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Lst>
  <p:sldSz cx="32918400" cy="438912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389120"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j-lt"/>
        <a:ea typeface="+mj-ea"/>
        <a:cs typeface="+mj-cs"/>
        <a:sym typeface="Calibri"/>
      </a:defRPr>
    </a:lvl1pPr>
    <a:lvl2pPr marL="0" marR="0" indent="0" algn="l" defTabSz="4389120"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j-lt"/>
        <a:ea typeface="+mj-ea"/>
        <a:cs typeface="+mj-cs"/>
        <a:sym typeface="Calibri"/>
      </a:defRPr>
    </a:lvl2pPr>
    <a:lvl3pPr marL="0" marR="0" indent="0" algn="l" defTabSz="4389120"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j-lt"/>
        <a:ea typeface="+mj-ea"/>
        <a:cs typeface="+mj-cs"/>
        <a:sym typeface="Calibri"/>
      </a:defRPr>
    </a:lvl3pPr>
    <a:lvl4pPr marL="0" marR="0" indent="0" algn="l" defTabSz="4389120"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j-lt"/>
        <a:ea typeface="+mj-ea"/>
        <a:cs typeface="+mj-cs"/>
        <a:sym typeface="Calibri"/>
      </a:defRPr>
    </a:lvl4pPr>
    <a:lvl5pPr marL="0" marR="0" indent="0" algn="l" defTabSz="4389120"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j-lt"/>
        <a:ea typeface="+mj-ea"/>
        <a:cs typeface="+mj-cs"/>
        <a:sym typeface="Calibri"/>
      </a:defRPr>
    </a:lvl5pPr>
    <a:lvl6pPr marL="0" marR="0" indent="0" algn="l" defTabSz="4389120"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j-lt"/>
        <a:ea typeface="+mj-ea"/>
        <a:cs typeface="+mj-cs"/>
        <a:sym typeface="Calibri"/>
      </a:defRPr>
    </a:lvl6pPr>
    <a:lvl7pPr marL="0" marR="0" indent="0" algn="l" defTabSz="4389120"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j-lt"/>
        <a:ea typeface="+mj-ea"/>
        <a:cs typeface="+mj-cs"/>
        <a:sym typeface="Calibri"/>
      </a:defRPr>
    </a:lvl7pPr>
    <a:lvl8pPr marL="0" marR="0" indent="0" algn="l" defTabSz="4389120"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j-lt"/>
        <a:ea typeface="+mj-ea"/>
        <a:cs typeface="+mj-cs"/>
        <a:sym typeface="Calibri"/>
      </a:defRPr>
    </a:lvl8pPr>
    <a:lvl9pPr marL="0" marR="0" indent="0" algn="l" defTabSz="4389120"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9" name="Shape 39"/>
          <p:cNvSpPr/>
          <p:nvPr>
            <p:ph type="sldImg"/>
          </p:nvPr>
        </p:nvSpPr>
        <p:spPr>
          <a:xfrm>
            <a:off x="1143000" y="685800"/>
            <a:ext cx="4572000" cy="3429000"/>
          </a:xfrm>
          <a:prstGeom prst="rect">
            <a:avLst/>
          </a:prstGeom>
        </p:spPr>
        <p:txBody>
          <a:bodyPr/>
          <a:lstStyle/>
          <a:p>
            <a:pPr/>
          </a:p>
        </p:txBody>
      </p:sp>
      <p:sp>
        <p:nvSpPr>
          <p:cNvPr id="40" name="Shape 4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389120" latinLnBrk="0">
      <a:defRPr sz="1200">
        <a:latin typeface="+mj-lt"/>
        <a:ea typeface="+mj-ea"/>
        <a:cs typeface="+mj-cs"/>
        <a:sym typeface="Calibri"/>
      </a:defRPr>
    </a:lvl1pPr>
    <a:lvl2pPr indent="228600" defTabSz="4389120" latinLnBrk="0">
      <a:defRPr sz="1200">
        <a:latin typeface="+mj-lt"/>
        <a:ea typeface="+mj-ea"/>
        <a:cs typeface="+mj-cs"/>
        <a:sym typeface="Calibri"/>
      </a:defRPr>
    </a:lvl2pPr>
    <a:lvl3pPr indent="457200" defTabSz="4389120" latinLnBrk="0">
      <a:defRPr sz="1200">
        <a:latin typeface="+mj-lt"/>
        <a:ea typeface="+mj-ea"/>
        <a:cs typeface="+mj-cs"/>
        <a:sym typeface="Calibri"/>
      </a:defRPr>
    </a:lvl3pPr>
    <a:lvl4pPr indent="685800" defTabSz="4389120" latinLnBrk="0">
      <a:defRPr sz="1200">
        <a:latin typeface="+mj-lt"/>
        <a:ea typeface="+mj-ea"/>
        <a:cs typeface="+mj-cs"/>
        <a:sym typeface="Calibri"/>
      </a:defRPr>
    </a:lvl4pPr>
    <a:lvl5pPr indent="914400" defTabSz="4389120" latinLnBrk="0">
      <a:defRPr sz="1200">
        <a:latin typeface="+mj-lt"/>
        <a:ea typeface="+mj-ea"/>
        <a:cs typeface="+mj-cs"/>
        <a:sym typeface="Calibri"/>
      </a:defRPr>
    </a:lvl5pPr>
    <a:lvl6pPr indent="1143000" defTabSz="4389120" latinLnBrk="0">
      <a:defRPr sz="1200">
        <a:latin typeface="+mj-lt"/>
        <a:ea typeface="+mj-ea"/>
        <a:cs typeface="+mj-cs"/>
        <a:sym typeface="Calibri"/>
      </a:defRPr>
    </a:lvl6pPr>
    <a:lvl7pPr indent="1371600" defTabSz="4389120" latinLnBrk="0">
      <a:defRPr sz="1200">
        <a:latin typeface="+mj-lt"/>
        <a:ea typeface="+mj-ea"/>
        <a:cs typeface="+mj-cs"/>
        <a:sym typeface="Calibri"/>
      </a:defRPr>
    </a:lvl7pPr>
    <a:lvl8pPr indent="1600200" defTabSz="4389120" latinLnBrk="0">
      <a:defRPr sz="1200">
        <a:latin typeface="+mj-lt"/>
        <a:ea typeface="+mj-ea"/>
        <a:cs typeface="+mj-cs"/>
        <a:sym typeface="Calibri"/>
      </a:defRPr>
    </a:lvl8pPr>
    <a:lvl9pPr indent="1828800" defTabSz="438912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11" name="Rectangle 10"/>
          <p:cNvSpPr/>
          <p:nvPr/>
        </p:nvSpPr>
        <p:spPr>
          <a:xfrm>
            <a:off x="32004000" y="0"/>
            <a:ext cx="914400" cy="43891200"/>
          </a:xfrm>
          <a:prstGeom prst="rect">
            <a:avLst/>
          </a:prstGeom>
          <a:solidFill>
            <a:srgbClr val="D7E4BD"/>
          </a:solidFill>
          <a:ln w="12700">
            <a:miter lim="400000"/>
          </a:ln>
        </p:spPr>
        <p:txBody>
          <a:bodyPr lIns="45718" tIns="45718" rIns="45718" bIns="45718" anchor="ctr"/>
          <a:lstStyle/>
          <a:p>
            <a:pPr algn="ctr">
              <a:defRPr>
                <a:solidFill>
                  <a:srgbClr val="FFFFFF"/>
                </a:solidFill>
              </a:defRPr>
            </a:pPr>
          </a:p>
        </p:txBody>
      </p:sp>
      <p:sp>
        <p:nvSpPr>
          <p:cNvPr id="12" name="Rectangle 9"/>
          <p:cNvSpPr/>
          <p:nvPr/>
        </p:nvSpPr>
        <p:spPr>
          <a:xfrm>
            <a:off x="0" y="0"/>
            <a:ext cx="914400" cy="43891200"/>
          </a:xfrm>
          <a:prstGeom prst="rect">
            <a:avLst/>
          </a:prstGeom>
          <a:solidFill>
            <a:srgbClr val="D7E4BD"/>
          </a:solidFill>
          <a:ln w="12700">
            <a:miter lim="400000"/>
          </a:ln>
        </p:spPr>
        <p:txBody>
          <a:bodyPr lIns="45718" tIns="45718" rIns="45718" bIns="45718" anchor="ctr"/>
          <a:lstStyle/>
          <a:p>
            <a:pPr algn="ctr">
              <a:defRPr>
                <a:solidFill>
                  <a:srgbClr val="FFFFFF"/>
                </a:solidFill>
              </a:defRPr>
            </a:pPr>
          </a:p>
        </p:txBody>
      </p:sp>
      <p:sp>
        <p:nvSpPr>
          <p:cNvPr id="13" name="Rectangle 6"/>
          <p:cNvSpPr/>
          <p:nvPr/>
        </p:nvSpPr>
        <p:spPr>
          <a:xfrm>
            <a:off x="0" y="0"/>
            <a:ext cx="32918400" cy="5486400"/>
          </a:xfrm>
          <a:prstGeom prst="rect">
            <a:avLst/>
          </a:prstGeom>
          <a:solidFill>
            <a:srgbClr val="376092"/>
          </a:solidFill>
          <a:ln w="12700">
            <a:miter lim="400000"/>
          </a:ln>
        </p:spPr>
        <p:txBody>
          <a:bodyPr lIns="45718" tIns="45718" rIns="45718" bIns="45718" anchor="ctr"/>
          <a:lstStyle/>
          <a:p>
            <a:pPr algn="ctr">
              <a:defRPr>
                <a:solidFill>
                  <a:srgbClr val="FFFFFF"/>
                </a:solidFill>
              </a:defRPr>
            </a:pPr>
          </a:p>
        </p:txBody>
      </p:sp>
      <p:sp>
        <p:nvSpPr>
          <p:cNvPr id="14" name="Rectangle 7"/>
          <p:cNvSpPr/>
          <p:nvPr/>
        </p:nvSpPr>
        <p:spPr>
          <a:xfrm>
            <a:off x="0" y="38404800"/>
            <a:ext cx="32918400" cy="5486400"/>
          </a:xfrm>
          <a:prstGeom prst="rect">
            <a:avLst/>
          </a:prstGeom>
          <a:solidFill>
            <a:srgbClr val="B9CDE5"/>
          </a:solidFill>
          <a:ln w="12700">
            <a:miter lim="400000"/>
          </a:ln>
        </p:spPr>
        <p:txBody>
          <a:bodyPr lIns="45718" tIns="45718" rIns="45718" bIns="45718" anchor="ctr"/>
          <a:lstStyle/>
          <a:p>
            <a:pPr algn="ctr">
              <a:defRPr>
                <a:solidFill>
                  <a:srgbClr val="FFFFFF"/>
                </a:solidFill>
              </a:defRPr>
            </a:pPr>
          </a:p>
        </p:txBody>
      </p:sp>
      <p:grpSp>
        <p:nvGrpSpPr>
          <p:cNvPr id="17" name="Instructions"/>
          <p:cNvGrpSpPr/>
          <p:nvPr/>
        </p:nvGrpSpPr>
        <p:grpSpPr>
          <a:xfrm>
            <a:off x="-13716000" y="0"/>
            <a:ext cx="12801600" cy="45534660"/>
            <a:chOff x="0" y="0"/>
            <a:chExt cx="12801600" cy="45534660"/>
          </a:xfrm>
        </p:grpSpPr>
        <p:sp>
          <p:nvSpPr>
            <p:cNvPr id="15" name="Rectangle"/>
            <p:cNvSpPr/>
            <p:nvPr/>
          </p:nvSpPr>
          <p:spPr>
            <a:xfrm>
              <a:off x="0" y="0"/>
              <a:ext cx="12801600" cy="43891201"/>
            </a:xfrm>
            <a:prstGeom prst="rect">
              <a:avLst/>
            </a:prstGeom>
            <a:solidFill>
              <a:srgbClr val="D9D9D9"/>
            </a:solidFill>
            <a:ln w="12700" cap="flat">
              <a:noFill/>
              <a:miter lim="400000"/>
            </a:ln>
            <a:effectLst/>
          </p:spPr>
          <p:txBody>
            <a:bodyPr wrap="square" lIns="45718" tIns="45718" rIns="45718" bIns="45718" numCol="1" anchor="t">
              <a:noAutofit/>
            </a:bodyPr>
            <a:lstStyle/>
            <a:p>
              <a:pPr algn="ctr" defTabSz="3686861">
                <a:spcBef>
                  <a:spcPts val="2400"/>
                </a:spcBef>
                <a:defRPr sz="7200">
                  <a:solidFill>
                    <a:srgbClr val="FFFFFF"/>
                  </a:solidFill>
                </a:defRPr>
              </a:pPr>
            </a:p>
          </p:txBody>
        </p:sp>
        <p:sp>
          <p:nvSpPr>
            <p:cNvPr id="16" name="Poster Print Size:…"/>
            <p:cNvSpPr txBox="1"/>
            <p:nvPr/>
          </p:nvSpPr>
          <p:spPr>
            <a:xfrm>
              <a:off x="0" y="0"/>
              <a:ext cx="12801600" cy="455346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28600" tIns="228600" rIns="228600" bIns="228600" numCol="1" anchor="t">
              <a:spAutoFit/>
            </a:bodyPr>
            <a:lstStyle/>
            <a:p>
              <a:pPr defTabSz="3686861">
                <a:spcBef>
                  <a:spcPts val="2400"/>
                </a:spcBef>
                <a:defRPr sz="9600">
                  <a:solidFill>
                    <a:srgbClr val="7F7F7F"/>
                  </a:solidFill>
                </a:defRPr>
              </a:pPr>
              <a:r>
                <a:t>Poster Print Size:</a:t>
              </a:r>
            </a:p>
            <a:p>
              <a:pPr defTabSz="3686861">
                <a:spcBef>
                  <a:spcPts val="2400"/>
                </a:spcBef>
                <a:defRPr sz="6600">
                  <a:solidFill>
                    <a:srgbClr val="7F7F7F"/>
                  </a:solidFill>
                </a:defRPr>
              </a:pPr>
              <a:r>
                <a:t>This poster template is 48” high by 36” wide. It can be used to print any poster with a 4:3 aspect ratio.</a:t>
              </a:r>
              <a:endParaRPr sz="7200">
                <a:solidFill>
                  <a:srgbClr val="FFFFFF"/>
                </a:solidFill>
              </a:endParaRPr>
            </a:p>
            <a:p>
              <a:pPr defTabSz="3686861">
                <a:spcBef>
                  <a:spcPts val="2400"/>
                </a:spcBef>
                <a:defRPr sz="9600">
                  <a:solidFill>
                    <a:srgbClr val="7F7F7F"/>
                  </a:solidFill>
                </a:defRPr>
              </a:pPr>
              <a:r>
                <a:t>Placeholders:</a:t>
              </a:r>
              <a:endParaRPr sz="7200">
                <a:solidFill>
                  <a:srgbClr val="FFFFFF"/>
                </a:solidFill>
              </a:endParaRPr>
            </a:p>
            <a:p>
              <a:pPr defTabSz="3686861">
                <a:spcBef>
                  <a:spcPts val="2400"/>
                </a:spcBef>
                <a:defRPr sz="6600">
                  <a:solidFill>
                    <a:srgbClr val="7F7F7F"/>
                  </a:solidFill>
                </a:defRPr>
              </a:pPr>
              <a: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sz="7200">
                <a:solidFill>
                  <a:srgbClr val="FFFFFF"/>
                </a:solidFill>
              </a:endParaRPr>
            </a:p>
            <a:p>
              <a:pPr defTabSz="3686861">
                <a:spcBef>
                  <a:spcPts val="2400"/>
                </a:spcBef>
                <a:defRPr sz="9600">
                  <a:solidFill>
                    <a:srgbClr val="7F7F7F"/>
                  </a:solidFill>
                </a:defRPr>
              </a:pPr>
              <a:r>
                <a:t>Image Quality:</a:t>
              </a:r>
              <a:endParaRPr sz="7200">
                <a:solidFill>
                  <a:srgbClr val="FFFFFF"/>
                </a:solidFill>
              </a:endParaRPr>
            </a:p>
            <a:p>
              <a:pPr defTabSz="3686861">
                <a:spcBef>
                  <a:spcPts val="2400"/>
                </a:spcBef>
                <a:defRPr sz="6600">
                  <a:solidFill>
                    <a:srgbClr val="7F7F7F"/>
                  </a:solidFill>
                </a:defRPr>
              </a:pPr>
              <a:r>
                <a:t>You can place digital photos or logo art in your poster file by selecting the </a:t>
              </a:r>
              <a:r>
                <a:rPr b="1"/>
                <a:t>Insert, Picture</a:t>
              </a:r>
              <a:r>
                <a:t> command, or by using standard copy &amp; paste. For best results, all graphic elements should be at least </a:t>
              </a:r>
              <a:r>
                <a:rPr b="1"/>
                <a:t>150-200 pixels per inch in their final printed size</a:t>
              </a:r>
              <a:r>
                <a:t>. For instance, a 1600 x 1200 pixel photo will usually look fine up to 8“-10” wide on your printed poster.</a:t>
              </a:r>
              <a:endParaRPr sz="7200">
                <a:solidFill>
                  <a:srgbClr val="FFFFFF"/>
                </a:solidFill>
              </a:endParaRPr>
            </a:p>
            <a:p>
              <a:pPr defTabSz="3686861">
                <a:spcBef>
                  <a:spcPts val="2400"/>
                </a:spcBef>
                <a:defRPr sz="6600">
                  <a:solidFill>
                    <a:srgbClr val="7F7F7F"/>
                  </a:solidFill>
                </a:defRPr>
              </a:pPr>
              <a: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sz="7200">
                <a:solidFill>
                  <a:srgbClr val="FFFFFF"/>
                </a:solidFill>
              </a:endParaRPr>
            </a:p>
            <a:p>
              <a:pPr defTabSz="3686861">
                <a:spcBef>
                  <a:spcPts val="2400"/>
                </a:spcBef>
                <a:defRPr sz="6600">
                  <a:solidFill>
                    <a:srgbClr val="7F7F7F"/>
                  </a:solidFill>
                </a:defRPr>
              </a:pPr>
              <a:r>
                <a:t>Please note that graphics from websites (such as the logo on your hospital's or university's home page) will only be 72dpi and not suitable for printing.</a:t>
              </a:r>
              <a:endParaRPr sz="7200">
                <a:solidFill>
                  <a:srgbClr val="FFFFFF"/>
                </a:solidFill>
              </a:endParaRPr>
            </a:p>
            <a:p>
              <a:pPr algn="ctr" defTabSz="3686861">
                <a:spcBef>
                  <a:spcPts val="2400"/>
                </a:spcBef>
                <a:defRPr sz="7200">
                  <a:solidFill>
                    <a:srgbClr val="FFFFFF"/>
                  </a:solidFill>
                </a:defRPr>
              </a:pPr>
              <a:br/>
              <a:r>
                <a:rPr sz="4800">
                  <a:solidFill>
                    <a:srgbClr val="7F7F7F"/>
                  </a:solidFill>
                </a:rPr>
                <a:t>[This sidebar area does not print.]</a:t>
              </a:r>
            </a:p>
          </p:txBody>
        </p:sp>
      </p:grpSp>
      <p:grpSp>
        <p:nvGrpSpPr>
          <p:cNvPr id="22" name="Group 1"/>
          <p:cNvGrpSpPr/>
          <p:nvPr/>
        </p:nvGrpSpPr>
        <p:grpSpPr>
          <a:xfrm>
            <a:off x="33832800" y="0"/>
            <a:ext cx="12801600" cy="45140961"/>
            <a:chOff x="0" y="0"/>
            <a:chExt cx="12801600" cy="45140959"/>
          </a:xfrm>
        </p:grpSpPr>
        <p:grpSp>
          <p:nvGrpSpPr>
            <p:cNvPr id="20" name="Instructions"/>
            <p:cNvGrpSpPr/>
            <p:nvPr/>
          </p:nvGrpSpPr>
          <p:grpSpPr>
            <a:xfrm>
              <a:off x="0" y="0"/>
              <a:ext cx="12801600" cy="45140960"/>
              <a:chOff x="0" y="0"/>
              <a:chExt cx="12801600" cy="45140960"/>
            </a:xfrm>
          </p:grpSpPr>
          <p:sp>
            <p:nvSpPr>
              <p:cNvPr id="18" name="Rectangle"/>
              <p:cNvSpPr/>
              <p:nvPr/>
            </p:nvSpPr>
            <p:spPr>
              <a:xfrm>
                <a:off x="0" y="0"/>
                <a:ext cx="12801600" cy="43891200"/>
              </a:xfrm>
              <a:prstGeom prst="rect">
                <a:avLst/>
              </a:prstGeom>
              <a:solidFill>
                <a:srgbClr val="D9D9D9"/>
              </a:solidFill>
              <a:ln w="12700" cap="flat">
                <a:noFill/>
                <a:miter lim="400000"/>
              </a:ln>
              <a:effectLst/>
            </p:spPr>
            <p:txBody>
              <a:bodyPr wrap="square" lIns="45718" tIns="45718" rIns="45718" bIns="45718" numCol="1" anchor="t">
                <a:noAutofit/>
              </a:bodyPr>
              <a:lstStyle/>
              <a:p>
                <a:pPr algn="ctr" defTabSz="3686861">
                  <a:defRPr sz="7200">
                    <a:solidFill>
                      <a:srgbClr val="FFFFFF"/>
                    </a:solidFill>
                  </a:defRPr>
                </a:pPr>
              </a:p>
            </p:txBody>
          </p:sp>
          <p:sp>
            <p:nvSpPr>
              <p:cNvPr id="19" name="Change Color Theme:…"/>
              <p:cNvSpPr txBox="1"/>
              <p:nvPr/>
            </p:nvSpPr>
            <p:spPr>
              <a:xfrm>
                <a:off x="0" y="0"/>
                <a:ext cx="12801600" cy="451409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28600" tIns="228600" rIns="228600" bIns="228600" numCol="1" anchor="t">
                <a:spAutoFit/>
              </a:bodyPr>
              <a:lstStyle/>
              <a:p>
                <a:pPr defTabSz="3686861">
                  <a:spcBef>
                    <a:spcPts val="2400"/>
                  </a:spcBef>
                  <a:defRPr sz="9600">
                    <a:solidFill>
                      <a:srgbClr val="808080"/>
                    </a:solidFill>
                  </a:defRPr>
                </a:pPr>
                <a:r>
                  <a:t>Change Color Theme:</a:t>
                </a:r>
              </a:p>
              <a:p>
                <a:pPr defTabSz="3686861">
                  <a:spcBef>
                    <a:spcPts val="2400"/>
                  </a:spcBef>
                  <a:defRPr sz="6600">
                    <a:solidFill>
                      <a:srgbClr val="808080"/>
                    </a:solidFill>
                  </a:defRPr>
                </a:pPr>
                <a:r>
                  <a:t>This template is designed to use the built-in color themes in the newer versions of PowerPoint.</a:t>
                </a:r>
                <a:endParaRPr sz="7200">
                  <a:solidFill>
                    <a:srgbClr val="FFFFFF"/>
                  </a:solidFill>
                </a:endParaRPr>
              </a:p>
              <a:p>
                <a:pPr defTabSz="3686861">
                  <a:spcBef>
                    <a:spcPts val="2400"/>
                  </a:spcBef>
                  <a:defRPr sz="6600">
                    <a:solidFill>
                      <a:srgbClr val="808080"/>
                    </a:solidFill>
                  </a:defRPr>
                </a:pPr>
                <a:r>
                  <a:t>To change the color theme, select the </a:t>
                </a:r>
                <a:r>
                  <a:rPr b="1"/>
                  <a:t>Design</a:t>
                </a:r>
                <a:r>
                  <a:t> tab, then select the </a:t>
                </a:r>
                <a:r>
                  <a:rPr b="1"/>
                  <a:t>Colors</a:t>
                </a:r>
                <a:r>
                  <a:t> drop-down list.</a:t>
                </a:r>
                <a:endParaRPr sz="7200">
                  <a:solidFill>
                    <a:srgbClr val="FFFFFF"/>
                  </a:solidFill>
                </a:endParaRPr>
              </a:p>
              <a:p>
                <a:pPr defTabSz="3686861">
                  <a:spcBef>
                    <a:spcPts val="2400"/>
                  </a:spcBef>
                  <a:defRPr sz="6600">
                    <a:solidFill>
                      <a:srgbClr val="808080"/>
                    </a:solidFill>
                  </a:defRPr>
                </a:pPr>
              </a:p>
              <a:p>
                <a:pPr defTabSz="3686861">
                  <a:spcBef>
                    <a:spcPts val="2400"/>
                  </a:spcBef>
                  <a:defRPr sz="6600">
                    <a:solidFill>
                      <a:srgbClr val="808080"/>
                    </a:solidFill>
                  </a:defRPr>
                </a:pPr>
              </a:p>
              <a:p>
                <a:pPr defTabSz="3686861">
                  <a:spcBef>
                    <a:spcPts val="2400"/>
                  </a:spcBef>
                  <a:defRPr sz="6600">
                    <a:solidFill>
                      <a:srgbClr val="808080"/>
                    </a:solidFill>
                  </a:defRPr>
                </a:pPr>
              </a:p>
              <a:p>
                <a:pPr defTabSz="3686861">
                  <a:spcBef>
                    <a:spcPts val="2400"/>
                  </a:spcBef>
                  <a:defRPr sz="6600">
                    <a:solidFill>
                      <a:srgbClr val="808080"/>
                    </a:solidFill>
                  </a:defRPr>
                </a:pPr>
              </a:p>
              <a:p>
                <a:pPr defTabSz="3686861">
                  <a:spcBef>
                    <a:spcPts val="2400"/>
                  </a:spcBef>
                  <a:defRPr sz="6600">
                    <a:solidFill>
                      <a:srgbClr val="808080"/>
                    </a:solidFill>
                  </a:defRPr>
                </a:pPr>
              </a:p>
              <a:p>
                <a:pPr defTabSz="3686861">
                  <a:spcBef>
                    <a:spcPts val="2400"/>
                  </a:spcBef>
                  <a:defRPr sz="6600">
                    <a:solidFill>
                      <a:srgbClr val="808080"/>
                    </a:solidFill>
                  </a:defRPr>
                </a:pPr>
              </a:p>
              <a:p>
                <a:pPr defTabSz="3686861">
                  <a:spcBef>
                    <a:spcPts val="2400"/>
                  </a:spcBef>
                  <a:defRPr sz="6600">
                    <a:solidFill>
                      <a:srgbClr val="808080"/>
                    </a:solidFill>
                  </a:defRPr>
                </a:pPr>
              </a:p>
              <a:p>
                <a:pPr defTabSz="3686861">
                  <a:spcBef>
                    <a:spcPts val="2400"/>
                  </a:spcBef>
                  <a:defRPr sz="6600">
                    <a:solidFill>
                      <a:srgbClr val="808080"/>
                    </a:solidFill>
                  </a:defRPr>
                </a:pPr>
              </a:p>
              <a:p>
                <a:pPr defTabSz="3686861">
                  <a:spcBef>
                    <a:spcPts val="2400"/>
                  </a:spcBef>
                  <a:defRPr sz="6600">
                    <a:solidFill>
                      <a:srgbClr val="808080"/>
                    </a:solidFill>
                  </a:defRPr>
                </a:pPr>
              </a:p>
              <a:p>
                <a:pPr defTabSz="3686861">
                  <a:spcBef>
                    <a:spcPts val="2400"/>
                  </a:spcBef>
                  <a:defRPr sz="6600">
                    <a:solidFill>
                      <a:srgbClr val="808080"/>
                    </a:solidFill>
                  </a:defRPr>
                </a:pPr>
                <a:r>
                  <a:t>The default color theme for this template is “Office”, so you can always return to that after trying some of the alternatives.</a:t>
                </a:r>
                <a:endParaRPr sz="7200">
                  <a:solidFill>
                    <a:srgbClr val="FFFFFF"/>
                  </a:solidFill>
                </a:endParaRPr>
              </a:p>
              <a:p>
                <a:pPr defTabSz="3686861">
                  <a:spcBef>
                    <a:spcPts val="2400"/>
                  </a:spcBef>
                  <a:defRPr sz="9600">
                    <a:solidFill>
                      <a:srgbClr val="808080"/>
                    </a:solidFill>
                  </a:defRPr>
                </a:pPr>
                <a:r>
                  <a:t>Printing Your Poster:</a:t>
                </a:r>
                <a:endParaRPr sz="7200">
                  <a:solidFill>
                    <a:srgbClr val="FFFFFF"/>
                  </a:solidFill>
                </a:endParaRPr>
              </a:p>
              <a:p>
                <a:pPr defTabSz="3686861">
                  <a:spcBef>
                    <a:spcPts val="2400"/>
                  </a:spcBef>
                  <a:defRPr sz="6600">
                    <a:solidFill>
                      <a:srgbClr val="808080"/>
                    </a:solidFill>
                  </a:defRPr>
                </a:pPr>
                <a:r>
                  <a:t>Once your poster file is ready, visit </a:t>
                </a:r>
                <a:r>
                  <a:rPr b="1"/>
                  <a:t>www.genigraphics.com</a:t>
                </a:r>
                <a:r>
                  <a:t> to order a high-quality, affordable poster print. Every order receives a free design review and we can deliver as fast as next business day within the US and Canada. </a:t>
                </a:r>
                <a:endParaRPr sz="7200">
                  <a:solidFill>
                    <a:srgbClr val="FFFFFF"/>
                  </a:solidFill>
                </a:endParaRPr>
              </a:p>
              <a:p>
                <a:pPr defTabSz="3686861">
                  <a:spcBef>
                    <a:spcPts val="2400"/>
                  </a:spcBef>
                  <a:defRPr sz="6600">
                    <a:solidFill>
                      <a:srgbClr val="808080"/>
                    </a:solidFill>
                  </a:defRPr>
                </a:pPr>
                <a:r>
                  <a:t>Genigraphics® has been producing output from PowerPoint® longer than anyone in the industry; dating back to when we helped Microsoft® design the PowerPoint software. </a:t>
                </a:r>
                <a:endParaRPr sz="7200">
                  <a:solidFill>
                    <a:srgbClr val="FFFFFF"/>
                  </a:solidFill>
                </a:endParaRPr>
              </a:p>
              <a:p>
                <a:pPr defTabSz="3686861">
                  <a:defRPr sz="6600">
                    <a:solidFill>
                      <a:srgbClr val="808080"/>
                    </a:solidFill>
                  </a:defRPr>
                </a:pPr>
              </a:p>
              <a:p>
                <a:pPr algn="ctr" defTabSz="3686861">
                  <a:defRPr sz="6600">
                    <a:solidFill>
                      <a:srgbClr val="808080"/>
                    </a:solidFill>
                  </a:defRPr>
                </a:pPr>
                <a:r>
                  <a:t>US and Canada:  1-800-790-4001</a:t>
                </a:r>
                <a:br/>
                <a:r>
                  <a:t>Email: info@genigraphics.com</a:t>
                </a:r>
                <a:endParaRPr sz="7200">
                  <a:solidFill>
                    <a:srgbClr val="FFFFFF"/>
                  </a:solidFill>
                </a:endParaRPr>
              </a:p>
              <a:p>
                <a:pPr algn="ctr" defTabSz="3686861">
                  <a:defRPr sz="7200">
                    <a:solidFill>
                      <a:srgbClr val="FFFFFF"/>
                    </a:solidFill>
                  </a:defRPr>
                </a:pPr>
                <a:br/>
                <a:r>
                  <a:rPr sz="4800">
                    <a:solidFill>
                      <a:srgbClr val="808080"/>
                    </a:solidFill>
                  </a:rPr>
                  <a:t>[This sidebar area does not print.]</a:t>
                </a:r>
              </a:p>
            </p:txBody>
          </p:sp>
        </p:grpSp>
        <p:pic>
          <p:nvPicPr>
            <p:cNvPr id="21" name="Picture 13" descr="Picture 13"/>
            <p:cNvPicPr>
              <a:picLocks noChangeAspect="1"/>
            </p:cNvPicPr>
            <p:nvPr/>
          </p:nvPicPr>
          <p:blipFill>
            <a:blip r:embed="rId2">
              <a:extLst/>
            </a:blip>
            <a:stretch>
              <a:fillRect/>
            </a:stretch>
          </p:blipFill>
          <p:spPr>
            <a:xfrm>
              <a:off x="448540" y="9260272"/>
              <a:ext cx="11904519" cy="10246929"/>
            </a:xfrm>
            <a:prstGeom prst="rect">
              <a:avLst/>
            </a:prstGeom>
            <a:ln w="12700" cap="flat">
              <a:noFill/>
              <a:miter lim="400000"/>
            </a:ln>
            <a:effectLst/>
          </p:spPr>
        </p:pic>
      </p:grpSp>
      <p:pic>
        <p:nvPicPr>
          <p:cNvPr id="23" name="Picture 2" descr="Picture 2"/>
          <p:cNvPicPr>
            <a:picLocks noChangeAspect="1"/>
          </p:cNvPicPr>
          <p:nvPr/>
        </p:nvPicPr>
        <p:blipFill>
          <a:blip r:embed="rId3">
            <a:extLst/>
          </a:blip>
          <a:stretch>
            <a:fillRect/>
          </a:stretch>
        </p:blipFill>
        <p:spPr>
          <a:xfrm>
            <a:off x="26782765" y="43476673"/>
            <a:ext cx="5297437" cy="185930"/>
          </a:xfrm>
          <a:prstGeom prst="rect">
            <a:avLst/>
          </a:prstGeom>
          <a:ln w="12700">
            <a:miter lim="400000"/>
          </a:ln>
        </p:spPr>
      </p:pic>
      <p:sp>
        <p:nvSpPr>
          <p:cNvPr id="24" name="Slide Number"/>
          <p:cNvSpPr txBox="1"/>
          <p:nvPr>
            <p:ph type="sldNum" sz="quarter" idx="2"/>
          </p:nvPr>
        </p:nvSpPr>
        <p:spPr>
          <a:xfrm>
            <a:off x="22393238" y="40085268"/>
            <a:ext cx="1198284" cy="1190743"/>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31" name="Title Text"/>
          <p:cNvSpPr txBox="1"/>
          <p:nvPr>
            <p:ph type="title"/>
          </p:nvPr>
        </p:nvSpPr>
        <p:spPr>
          <a:prstGeom prst="rect">
            <a:avLst/>
          </a:prstGeom>
        </p:spPr>
        <p:txBody>
          <a:bodyPr/>
          <a:lstStyle/>
          <a:p>
            <a:pPr/>
            <a:r>
              <a:t>Title Text</a:t>
            </a:r>
          </a:p>
        </p:txBody>
      </p:sp>
      <p:sp>
        <p:nvSpPr>
          <p:cNvPr id="32"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645920" y="1757683"/>
            <a:ext cx="29626561" cy="7315201"/>
          </a:xfrm>
          <a:prstGeom prst="rect">
            <a:avLst/>
          </a:prstGeom>
          <a:ln w="12700">
            <a:miter lim="400000"/>
          </a:ln>
          <a:extLst>
            <a:ext uri="{C572A759-6A51-4108-AA02-DFA0A04FC94B}">
              <ma14:wrappingTextBoxFlag xmlns:ma14="http://schemas.microsoft.com/office/mac/drawingml/2011/main" val="1"/>
            </a:ext>
          </a:extLst>
        </p:spPr>
        <p:txBody>
          <a:bodyPr lIns="219456" tIns="219456" rIns="219456" bIns="219456" anchor="ctr">
            <a:normAutofit fontScale="100000" lnSpcReduction="0"/>
          </a:bodyPr>
          <a:lstStyle/>
          <a:p>
            <a:pPr/>
            <a:r>
              <a:t>Title Text</a:t>
            </a:r>
          </a:p>
        </p:txBody>
      </p:sp>
      <p:sp>
        <p:nvSpPr>
          <p:cNvPr id="3" name="Body Level One…"/>
          <p:cNvSpPr txBox="1"/>
          <p:nvPr>
            <p:ph type="body" idx="1"/>
          </p:nvPr>
        </p:nvSpPr>
        <p:spPr>
          <a:xfrm>
            <a:off x="1645920" y="10241281"/>
            <a:ext cx="29626561" cy="28966165"/>
          </a:xfrm>
          <a:prstGeom prst="rect">
            <a:avLst/>
          </a:prstGeom>
          <a:ln w="12700">
            <a:miter lim="400000"/>
          </a:ln>
          <a:extLst>
            <a:ext uri="{C572A759-6A51-4108-AA02-DFA0A04FC94B}">
              <ma14:wrappingTextBoxFlag xmlns:ma14="http://schemas.microsoft.com/office/mac/drawingml/2011/main" val="1"/>
            </a:ext>
          </a:extLst>
        </p:spPr>
        <p:txBody>
          <a:bodyPr lIns="219456" tIns="219456" rIns="219456" bIns="219456">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30074196" y="41253671"/>
            <a:ext cx="1198283" cy="1190743"/>
          </a:xfrm>
          <a:prstGeom prst="rect">
            <a:avLst/>
          </a:prstGeom>
          <a:ln w="12700">
            <a:miter lim="400000"/>
          </a:ln>
        </p:spPr>
        <p:txBody>
          <a:bodyPr wrap="none" lIns="219456" tIns="219456" rIns="219456" bIns="219456" anchor="ctr">
            <a:spAutoFit/>
          </a:bodyPr>
          <a:lstStyle>
            <a:lvl1pPr algn="r">
              <a:defRPr sz="58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transition xmlns:p14="http://schemas.microsoft.com/office/powerpoint/2010/main" spd="med" advClick="1"/>
  <p:txStyles>
    <p:titleStyle>
      <a:lvl1pPr marL="0" marR="0" indent="0" algn="ctr" defTabSz="438912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Calibri"/>
        </a:defRPr>
      </a:lvl1pPr>
      <a:lvl2pPr marL="0" marR="0" indent="0" algn="ctr" defTabSz="438912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Calibri"/>
        </a:defRPr>
      </a:lvl2pPr>
      <a:lvl3pPr marL="0" marR="0" indent="0" algn="ctr" defTabSz="438912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Calibri"/>
        </a:defRPr>
      </a:lvl3pPr>
      <a:lvl4pPr marL="0" marR="0" indent="0" algn="ctr" defTabSz="438912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Calibri"/>
        </a:defRPr>
      </a:lvl4pPr>
      <a:lvl5pPr marL="0" marR="0" indent="0" algn="ctr" defTabSz="438912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Calibri"/>
        </a:defRPr>
      </a:lvl5pPr>
      <a:lvl6pPr marL="0" marR="0" indent="0" algn="ctr" defTabSz="438912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Calibri"/>
        </a:defRPr>
      </a:lvl6pPr>
      <a:lvl7pPr marL="0" marR="0" indent="0" algn="ctr" defTabSz="438912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Calibri"/>
        </a:defRPr>
      </a:lvl7pPr>
      <a:lvl8pPr marL="0" marR="0" indent="0" algn="ctr" defTabSz="438912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Calibri"/>
        </a:defRPr>
      </a:lvl8pPr>
      <a:lvl9pPr marL="0" marR="0" indent="0" algn="ctr" defTabSz="438912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Calibri"/>
        </a:defRPr>
      </a:lvl9pPr>
    </p:titleStyle>
    <p:bodyStyle>
      <a:lvl1pPr marL="457200" marR="0" indent="-457200" algn="l" defTabSz="4389120" rtl="0" latinLnBrk="0">
        <a:lnSpc>
          <a:spcPct val="100000"/>
        </a:lnSpc>
        <a:spcBef>
          <a:spcPts val="800"/>
        </a:spcBef>
        <a:spcAft>
          <a:spcPts val="0"/>
        </a:spcAft>
        <a:buClrTx/>
        <a:buSzPct val="100000"/>
        <a:buFont typeface="Arial"/>
        <a:buChar char="•"/>
        <a:tabLst/>
        <a:defRPr b="0" baseline="0" cap="none" i="0" spc="0" strike="noStrike" sz="3600" u="none">
          <a:solidFill>
            <a:srgbClr val="000000"/>
          </a:solidFill>
          <a:uFillTx/>
          <a:latin typeface="+mj-lt"/>
          <a:ea typeface="+mj-ea"/>
          <a:cs typeface="+mj-cs"/>
          <a:sym typeface="Calibri"/>
        </a:defRPr>
      </a:lvl1pPr>
      <a:lvl2pPr marL="914400" marR="0" indent="-457200" algn="l" defTabSz="4389120" rtl="0" latinLnBrk="0">
        <a:lnSpc>
          <a:spcPct val="100000"/>
        </a:lnSpc>
        <a:spcBef>
          <a:spcPts val="800"/>
        </a:spcBef>
        <a:spcAft>
          <a:spcPts val="0"/>
        </a:spcAft>
        <a:buClrTx/>
        <a:buSzPct val="100000"/>
        <a:buFont typeface="Arial"/>
        <a:buChar char="–"/>
        <a:tabLst/>
        <a:defRPr b="0" baseline="0" cap="none" i="0" spc="0" strike="noStrike" sz="3600" u="none">
          <a:solidFill>
            <a:srgbClr val="000000"/>
          </a:solidFill>
          <a:uFillTx/>
          <a:latin typeface="+mj-lt"/>
          <a:ea typeface="+mj-ea"/>
          <a:cs typeface="+mj-cs"/>
          <a:sym typeface="Calibri"/>
        </a:defRPr>
      </a:lvl2pPr>
      <a:lvl3pPr marL="1371600" marR="0" indent="-457200" algn="l" defTabSz="4389120" rtl="0" latinLnBrk="0">
        <a:lnSpc>
          <a:spcPct val="100000"/>
        </a:lnSpc>
        <a:spcBef>
          <a:spcPts val="800"/>
        </a:spcBef>
        <a:spcAft>
          <a:spcPts val="0"/>
        </a:spcAft>
        <a:buClrTx/>
        <a:buSzPct val="100000"/>
        <a:buFont typeface="Arial"/>
        <a:buChar char="•"/>
        <a:tabLst/>
        <a:defRPr b="0" baseline="0" cap="none" i="0" spc="0" strike="noStrike" sz="3600" u="none">
          <a:solidFill>
            <a:srgbClr val="000000"/>
          </a:solidFill>
          <a:uFillTx/>
          <a:latin typeface="+mj-lt"/>
          <a:ea typeface="+mj-ea"/>
          <a:cs typeface="+mj-cs"/>
          <a:sym typeface="Calibri"/>
        </a:defRPr>
      </a:lvl3pPr>
      <a:lvl4pPr marL="1828800" marR="0" indent="-457200" algn="l" defTabSz="4389120" rtl="0" latinLnBrk="0">
        <a:lnSpc>
          <a:spcPct val="100000"/>
        </a:lnSpc>
        <a:spcBef>
          <a:spcPts val="800"/>
        </a:spcBef>
        <a:spcAft>
          <a:spcPts val="0"/>
        </a:spcAft>
        <a:buClrTx/>
        <a:buSzPct val="100000"/>
        <a:buFont typeface="Arial"/>
        <a:buChar char="–"/>
        <a:tabLst/>
        <a:defRPr b="0" baseline="0" cap="none" i="0" spc="0" strike="noStrike" sz="3600" u="none">
          <a:solidFill>
            <a:srgbClr val="000000"/>
          </a:solidFill>
          <a:uFillTx/>
          <a:latin typeface="+mj-lt"/>
          <a:ea typeface="+mj-ea"/>
          <a:cs typeface="+mj-cs"/>
          <a:sym typeface="Calibri"/>
        </a:defRPr>
      </a:lvl4pPr>
      <a:lvl5pPr marL="2286000" marR="0" indent="-457200" algn="l" defTabSz="4389120" rtl="0" latinLnBrk="0">
        <a:lnSpc>
          <a:spcPct val="100000"/>
        </a:lnSpc>
        <a:spcBef>
          <a:spcPts val="800"/>
        </a:spcBef>
        <a:spcAft>
          <a:spcPts val="0"/>
        </a:spcAft>
        <a:buClrTx/>
        <a:buSzPct val="100000"/>
        <a:buFont typeface="Arial"/>
        <a:buChar char="»"/>
        <a:tabLst/>
        <a:defRPr b="0" baseline="0" cap="none" i="0" spc="0" strike="noStrike" sz="3600" u="none">
          <a:solidFill>
            <a:srgbClr val="000000"/>
          </a:solidFill>
          <a:uFillTx/>
          <a:latin typeface="+mj-lt"/>
          <a:ea typeface="+mj-ea"/>
          <a:cs typeface="+mj-cs"/>
          <a:sym typeface="Calibri"/>
        </a:defRPr>
      </a:lvl5pPr>
      <a:lvl6pPr marL="11384280" marR="0" indent="-411480" algn="l" defTabSz="4389120" rtl="0" latinLnBrk="0">
        <a:lnSpc>
          <a:spcPct val="100000"/>
        </a:lnSpc>
        <a:spcBef>
          <a:spcPts val="800"/>
        </a:spcBef>
        <a:spcAft>
          <a:spcPts val="0"/>
        </a:spcAft>
        <a:buClrTx/>
        <a:buSzPct val="100000"/>
        <a:buFont typeface="Arial"/>
        <a:buChar char="•"/>
        <a:tabLst/>
        <a:defRPr b="0" baseline="0" cap="none" i="0" spc="0" strike="noStrike" sz="3600" u="none">
          <a:solidFill>
            <a:srgbClr val="000000"/>
          </a:solidFill>
          <a:uFillTx/>
          <a:latin typeface="+mj-lt"/>
          <a:ea typeface="+mj-ea"/>
          <a:cs typeface="+mj-cs"/>
          <a:sym typeface="Calibri"/>
        </a:defRPr>
      </a:lvl6pPr>
      <a:lvl7pPr marL="13578839" marR="0" indent="-411480" algn="l" defTabSz="4389120" rtl="0" latinLnBrk="0">
        <a:lnSpc>
          <a:spcPct val="100000"/>
        </a:lnSpc>
        <a:spcBef>
          <a:spcPts val="800"/>
        </a:spcBef>
        <a:spcAft>
          <a:spcPts val="0"/>
        </a:spcAft>
        <a:buClrTx/>
        <a:buSzPct val="100000"/>
        <a:buFont typeface="Arial"/>
        <a:buChar char="•"/>
        <a:tabLst/>
        <a:defRPr b="0" baseline="0" cap="none" i="0" spc="0" strike="noStrike" sz="3600" u="none">
          <a:solidFill>
            <a:srgbClr val="000000"/>
          </a:solidFill>
          <a:uFillTx/>
          <a:latin typeface="+mj-lt"/>
          <a:ea typeface="+mj-ea"/>
          <a:cs typeface="+mj-cs"/>
          <a:sym typeface="Calibri"/>
        </a:defRPr>
      </a:lvl7pPr>
      <a:lvl8pPr marL="15773400" marR="0" indent="-411480" algn="l" defTabSz="4389120" rtl="0" latinLnBrk="0">
        <a:lnSpc>
          <a:spcPct val="100000"/>
        </a:lnSpc>
        <a:spcBef>
          <a:spcPts val="800"/>
        </a:spcBef>
        <a:spcAft>
          <a:spcPts val="0"/>
        </a:spcAft>
        <a:buClrTx/>
        <a:buSzPct val="100000"/>
        <a:buFont typeface="Arial"/>
        <a:buChar char="•"/>
        <a:tabLst/>
        <a:defRPr b="0" baseline="0" cap="none" i="0" spc="0" strike="noStrike" sz="3600" u="none">
          <a:solidFill>
            <a:srgbClr val="000000"/>
          </a:solidFill>
          <a:uFillTx/>
          <a:latin typeface="+mj-lt"/>
          <a:ea typeface="+mj-ea"/>
          <a:cs typeface="+mj-cs"/>
          <a:sym typeface="Calibri"/>
        </a:defRPr>
      </a:lvl8pPr>
      <a:lvl9pPr marL="17967960" marR="0" indent="-411480" algn="l" defTabSz="4389120" rtl="0" latinLnBrk="0">
        <a:lnSpc>
          <a:spcPct val="100000"/>
        </a:lnSpc>
        <a:spcBef>
          <a:spcPts val="800"/>
        </a:spcBef>
        <a:spcAft>
          <a:spcPts val="0"/>
        </a:spcAft>
        <a:buClrTx/>
        <a:buSzPct val="100000"/>
        <a:buFont typeface="Arial"/>
        <a:buChar char="•"/>
        <a:tabLst/>
        <a:defRPr b="0" baseline="0" cap="none" i="0" spc="0" strike="noStrike" sz="3600" u="none">
          <a:solidFill>
            <a:srgbClr val="000000"/>
          </a:solidFill>
          <a:uFillTx/>
          <a:latin typeface="+mj-lt"/>
          <a:ea typeface="+mj-ea"/>
          <a:cs typeface="+mj-cs"/>
          <a:sym typeface="Calibri"/>
        </a:defRPr>
      </a:lvl9pPr>
    </p:bodyStyle>
    <p:otherStyle>
      <a:lvl1pPr marL="0" marR="0" indent="0" algn="r" defTabSz="4389120" rtl="0" latinLnBrk="0">
        <a:lnSpc>
          <a:spcPct val="100000"/>
        </a:lnSpc>
        <a:spcBef>
          <a:spcPts val="0"/>
        </a:spcBef>
        <a:spcAft>
          <a:spcPts val="0"/>
        </a:spcAft>
        <a:buClrTx/>
        <a:buSzTx/>
        <a:buFontTx/>
        <a:buNone/>
        <a:tabLst/>
        <a:defRPr b="0" baseline="0" cap="none" i="0" spc="0" strike="noStrike" sz="5800" u="none">
          <a:solidFill>
            <a:schemeClr val="tx1"/>
          </a:solidFill>
          <a:uFillTx/>
          <a:latin typeface="+mn-lt"/>
          <a:ea typeface="+mn-ea"/>
          <a:cs typeface="+mn-cs"/>
          <a:sym typeface="Calibri"/>
        </a:defRPr>
      </a:lvl1pPr>
      <a:lvl2pPr marL="0" marR="0" indent="0" algn="r" defTabSz="4389120" rtl="0" latinLnBrk="0">
        <a:lnSpc>
          <a:spcPct val="100000"/>
        </a:lnSpc>
        <a:spcBef>
          <a:spcPts val="0"/>
        </a:spcBef>
        <a:spcAft>
          <a:spcPts val="0"/>
        </a:spcAft>
        <a:buClrTx/>
        <a:buSzTx/>
        <a:buFontTx/>
        <a:buNone/>
        <a:tabLst/>
        <a:defRPr b="0" baseline="0" cap="none" i="0" spc="0" strike="noStrike" sz="5800" u="none">
          <a:solidFill>
            <a:schemeClr val="tx1"/>
          </a:solidFill>
          <a:uFillTx/>
          <a:latin typeface="+mn-lt"/>
          <a:ea typeface="+mn-ea"/>
          <a:cs typeface="+mn-cs"/>
          <a:sym typeface="Calibri"/>
        </a:defRPr>
      </a:lvl2pPr>
      <a:lvl3pPr marL="0" marR="0" indent="0" algn="r" defTabSz="4389120" rtl="0" latinLnBrk="0">
        <a:lnSpc>
          <a:spcPct val="100000"/>
        </a:lnSpc>
        <a:spcBef>
          <a:spcPts val="0"/>
        </a:spcBef>
        <a:spcAft>
          <a:spcPts val="0"/>
        </a:spcAft>
        <a:buClrTx/>
        <a:buSzTx/>
        <a:buFontTx/>
        <a:buNone/>
        <a:tabLst/>
        <a:defRPr b="0" baseline="0" cap="none" i="0" spc="0" strike="noStrike" sz="5800" u="none">
          <a:solidFill>
            <a:schemeClr val="tx1"/>
          </a:solidFill>
          <a:uFillTx/>
          <a:latin typeface="+mn-lt"/>
          <a:ea typeface="+mn-ea"/>
          <a:cs typeface="+mn-cs"/>
          <a:sym typeface="Calibri"/>
        </a:defRPr>
      </a:lvl3pPr>
      <a:lvl4pPr marL="0" marR="0" indent="0" algn="r" defTabSz="4389120" rtl="0" latinLnBrk="0">
        <a:lnSpc>
          <a:spcPct val="100000"/>
        </a:lnSpc>
        <a:spcBef>
          <a:spcPts val="0"/>
        </a:spcBef>
        <a:spcAft>
          <a:spcPts val="0"/>
        </a:spcAft>
        <a:buClrTx/>
        <a:buSzTx/>
        <a:buFontTx/>
        <a:buNone/>
        <a:tabLst/>
        <a:defRPr b="0" baseline="0" cap="none" i="0" spc="0" strike="noStrike" sz="5800" u="none">
          <a:solidFill>
            <a:schemeClr val="tx1"/>
          </a:solidFill>
          <a:uFillTx/>
          <a:latin typeface="+mn-lt"/>
          <a:ea typeface="+mn-ea"/>
          <a:cs typeface="+mn-cs"/>
          <a:sym typeface="Calibri"/>
        </a:defRPr>
      </a:lvl4pPr>
      <a:lvl5pPr marL="0" marR="0" indent="0" algn="r" defTabSz="4389120" rtl="0" latinLnBrk="0">
        <a:lnSpc>
          <a:spcPct val="100000"/>
        </a:lnSpc>
        <a:spcBef>
          <a:spcPts val="0"/>
        </a:spcBef>
        <a:spcAft>
          <a:spcPts val="0"/>
        </a:spcAft>
        <a:buClrTx/>
        <a:buSzTx/>
        <a:buFontTx/>
        <a:buNone/>
        <a:tabLst/>
        <a:defRPr b="0" baseline="0" cap="none" i="0" spc="0" strike="noStrike" sz="5800" u="none">
          <a:solidFill>
            <a:schemeClr val="tx1"/>
          </a:solidFill>
          <a:uFillTx/>
          <a:latin typeface="+mn-lt"/>
          <a:ea typeface="+mn-ea"/>
          <a:cs typeface="+mn-cs"/>
          <a:sym typeface="Calibri"/>
        </a:defRPr>
      </a:lvl5pPr>
      <a:lvl6pPr marL="0" marR="0" indent="0" algn="r" defTabSz="4389120" rtl="0" latinLnBrk="0">
        <a:lnSpc>
          <a:spcPct val="100000"/>
        </a:lnSpc>
        <a:spcBef>
          <a:spcPts val="0"/>
        </a:spcBef>
        <a:spcAft>
          <a:spcPts val="0"/>
        </a:spcAft>
        <a:buClrTx/>
        <a:buSzTx/>
        <a:buFontTx/>
        <a:buNone/>
        <a:tabLst/>
        <a:defRPr b="0" baseline="0" cap="none" i="0" spc="0" strike="noStrike" sz="5800" u="none">
          <a:solidFill>
            <a:schemeClr val="tx1"/>
          </a:solidFill>
          <a:uFillTx/>
          <a:latin typeface="+mn-lt"/>
          <a:ea typeface="+mn-ea"/>
          <a:cs typeface="+mn-cs"/>
          <a:sym typeface="Calibri"/>
        </a:defRPr>
      </a:lvl6pPr>
      <a:lvl7pPr marL="0" marR="0" indent="0" algn="r" defTabSz="4389120" rtl="0" latinLnBrk="0">
        <a:lnSpc>
          <a:spcPct val="100000"/>
        </a:lnSpc>
        <a:spcBef>
          <a:spcPts val="0"/>
        </a:spcBef>
        <a:spcAft>
          <a:spcPts val="0"/>
        </a:spcAft>
        <a:buClrTx/>
        <a:buSzTx/>
        <a:buFontTx/>
        <a:buNone/>
        <a:tabLst/>
        <a:defRPr b="0" baseline="0" cap="none" i="0" spc="0" strike="noStrike" sz="5800" u="none">
          <a:solidFill>
            <a:schemeClr val="tx1"/>
          </a:solidFill>
          <a:uFillTx/>
          <a:latin typeface="+mn-lt"/>
          <a:ea typeface="+mn-ea"/>
          <a:cs typeface="+mn-cs"/>
          <a:sym typeface="Calibri"/>
        </a:defRPr>
      </a:lvl7pPr>
      <a:lvl8pPr marL="0" marR="0" indent="0" algn="r" defTabSz="4389120" rtl="0" latinLnBrk="0">
        <a:lnSpc>
          <a:spcPct val="100000"/>
        </a:lnSpc>
        <a:spcBef>
          <a:spcPts val="0"/>
        </a:spcBef>
        <a:spcAft>
          <a:spcPts val="0"/>
        </a:spcAft>
        <a:buClrTx/>
        <a:buSzTx/>
        <a:buFontTx/>
        <a:buNone/>
        <a:tabLst/>
        <a:defRPr b="0" baseline="0" cap="none" i="0" spc="0" strike="noStrike" sz="5800" u="none">
          <a:solidFill>
            <a:schemeClr val="tx1"/>
          </a:solidFill>
          <a:uFillTx/>
          <a:latin typeface="+mn-lt"/>
          <a:ea typeface="+mn-ea"/>
          <a:cs typeface="+mn-cs"/>
          <a:sym typeface="Calibri"/>
        </a:defRPr>
      </a:lvl8pPr>
      <a:lvl9pPr marL="0" marR="0" indent="0" algn="r" defTabSz="4389120" rtl="0" latinLnBrk="0">
        <a:lnSpc>
          <a:spcPct val="100000"/>
        </a:lnSpc>
        <a:spcBef>
          <a:spcPts val="0"/>
        </a:spcBef>
        <a:spcAft>
          <a:spcPts val="0"/>
        </a:spcAft>
        <a:buClrTx/>
        <a:buSzTx/>
        <a:buFontTx/>
        <a:buNone/>
        <a:tabLst/>
        <a:defRPr b="0" baseline="0" cap="none" i="0" spc="0" strike="noStrike" sz="58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muthuamir12@gmail.com" TargetMode="External"/><Relationship Id="rId3" Type="http://schemas.openxmlformats.org/officeDocument/2006/relationships/hyperlink" Target="mailto:anitha21542@gmail.com" TargetMode="External"/><Relationship Id="rId4" Type="http://schemas.openxmlformats.org/officeDocument/2006/relationships/image" Target="../media/image1.jpe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 name="Text Box 122"/>
          <p:cNvSpPr txBox="1"/>
          <p:nvPr/>
        </p:nvSpPr>
        <p:spPr>
          <a:xfrm>
            <a:off x="7090002" y="389614"/>
            <a:ext cx="21945603" cy="2817107"/>
          </a:xfrm>
          <a:prstGeom prst="rect">
            <a:avLst/>
          </a:prstGeom>
          <a:ln w="12700">
            <a:miter lim="400000"/>
          </a:ln>
          <a:extLst>
            <a:ext uri="{C572A759-6A51-4108-AA02-DFA0A04FC94B}">
              <ma14:wrappingTextBoxFlag xmlns:ma14="http://schemas.microsoft.com/office/mac/drawingml/2011/main" val="1"/>
            </a:ext>
          </a:extLst>
        </p:spPr>
        <p:txBody>
          <a:bodyPr lIns="182879" tIns="182879" rIns="182879" bIns="182879" anchor="ctr">
            <a:spAutoFit/>
          </a:bodyPr>
          <a:lstStyle/>
          <a:p>
            <a:pPr>
              <a:defRPr>
                <a:solidFill>
                  <a:srgbClr val="F4F4F4"/>
                </a:solidFill>
              </a:defRPr>
            </a:pPr>
            <a:r>
              <a:t>Real Time Suspicious Activity Detection Using</a:t>
            </a:r>
          </a:p>
          <a:p>
            <a:pPr>
              <a:defRPr>
                <a:solidFill>
                  <a:srgbClr val="F4F4F4"/>
                </a:solidFill>
              </a:defRPr>
            </a:pPr>
            <a:r>
              <a:t>                        CNN and LSTM</a:t>
            </a:r>
          </a:p>
        </p:txBody>
      </p:sp>
      <p:sp>
        <p:nvSpPr>
          <p:cNvPr id="43" name="Text Box 123"/>
          <p:cNvSpPr txBox="1"/>
          <p:nvPr/>
        </p:nvSpPr>
        <p:spPr>
          <a:xfrm>
            <a:off x="5694375" y="3445495"/>
            <a:ext cx="21945602" cy="1729818"/>
          </a:xfrm>
          <a:prstGeom prst="rect">
            <a:avLst/>
          </a:prstGeom>
          <a:ln w="12700">
            <a:miter lim="400000"/>
          </a:ln>
          <a:extLst>
            <a:ext uri="{C572A759-6A51-4108-AA02-DFA0A04FC94B}">
              <ma14:wrappingTextBoxFlag xmlns:ma14="http://schemas.microsoft.com/office/mac/drawingml/2011/main" val="1"/>
            </a:ext>
          </a:extLst>
        </p:spPr>
        <p:txBody>
          <a:bodyPr lIns="182879" tIns="182879" rIns="182879" bIns="182879" anchor="ctr">
            <a:spAutoFit/>
          </a:bodyPr>
          <a:lstStyle/>
          <a:p>
            <a:pPr algn="ctr" defTabSz="4389437">
              <a:defRPr sz="4800">
                <a:solidFill>
                  <a:srgbClr val="EBF1DE"/>
                </a:solidFill>
              </a:defRPr>
            </a:pPr>
            <a:r>
              <a:t>Mutharasi.a, Anitha.D </a:t>
            </a:r>
          </a:p>
          <a:p>
            <a:pPr algn="ctr" defTabSz="4389437">
              <a:defRPr sz="4800">
                <a:solidFill>
                  <a:srgbClr val="EBF1DE"/>
                </a:solidFill>
              </a:defRPr>
            </a:pPr>
            <a:r>
              <a:t> Vel Tech Rangarajan Dr. Sagunthala R&amp;D Institute of Science and Technology</a:t>
            </a:r>
          </a:p>
        </p:txBody>
      </p:sp>
      <p:sp>
        <p:nvSpPr>
          <p:cNvPr id="44" name="TextBox 23"/>
          <p:cNvSpPr txBox="1"/>
          <p:nvPr/>
        </p:nvSpPr>
        <p:spPr>
          <a:xfrm>
            <a:off x="1704200" y="39923718"/>
            <a:ext cx="12593597" cy="2973545"/>
          </a:xfrm>
          <a:prstGeom prst="rect">
            <a:avLst/>
          </a:prstGeom>
          <a:solidFill>
            <a:srgbClr val="B9CDE5"/>
          </a:solidFill>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defRPr sz="3200"/>
            </a:pPr>
            <a:r>
              <a:t>MUTHARASI.A</a:t>
            </a:r>
          </a:p>
          <a:p>
            <a:pPr>
              <a:defRPr sz="3200"/>
            </a:pPr>
            <a:r>
              <a:t>ANITHA.D</a:t>
            </a:r>
          </a:p>
          <a:p>
            <a:pPr>
              <a:defRPr sz="3200"/>
            </a:pPr>
            <a:r>
              <a:t>Vel Tech Rangarajan Dr. Sagunthala R&amp;D Institute of Science and Technology</a:t>
            </a:r>
          </a:p>
          <a:p>
            <a:pPr>
              <a:defRPr sz="3200"/>
            </a:pPr>
            <a:r>
              <a:t>Email:</a:t>
            </a:r>
            <a:r>
              <a:rPr u="sng">
                <a:solidFill>
                  <a:srgbClr val="0000FF"/>
                </a:solidFill>
                <a:uFill>
                  <a:solidFill>
                    <a:srgbClr val="0000FF"/>
                  </a:solidFill>
                </a:uFill>
                <a:hlinkClick r:id="rId2" invalidUrl="" action="" tgtFrame="" tooltip="" history="1" highlightClick="0" endSnd="0"/>
              </a:rPr>
              <a:t>muthuamir12@gmail.com</a:t>
            </a:r>
          </a:p>
          <a:p>
            <a:pPr>
              <a:defRPr sz="3200" u="sng">
                <a:solidFill>
                  <a:srgbClr val="0000FF"/>
                </a:solidFill>
                <a:uFill>
                  <a:solidFill>
                    <a:srgbClr val="0000FF"/>
                  </a:solidFill>
                </a:uFill>
              </a:defRPr>
            </a:pPr>
            <a:r>
              <a:rPr>
                <a:hlinkClick r:id="rId3" invalidUrl="" action="" tgtFrame="" tooltip="" history="1" highlightClick="0" endSnd="0"/>
              </a:rPr>
              <a:t>anitha21542@gmail.com</a:t>
            </a:r>
          </a:p>
        </p:txBody>
      </p:sp>
      <p:sp>
        <p:nvSpPr>
          <p:cNvPr id="45" name="TextBox 24"/>
          <p:cNvSpPr txBox="1"/>
          <p:nvPr/>
        </p:nvSpPr>
        <p:spPr>
          <a:xfrm>
            <a:off x="1874519" y="38862000"/>
            <a:ext cx="5949736" cy="850363"/>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b="1" sz="6000"/>
            </a:lvl1pPr>
          </a:lstStyle>
          <a:p>
            <a:pPr/>
            <a:r>
              <a:t>Acknowledgments</a:t>
            </a:r>
          </a:p>
        </p:txBody>
      </p:sp>
      <p:sp>
        <p:nvSpPr>
          <p:cNvPr id="46" name="TextBox 25"/>
          <p:cNvSpPr txBox="1"/>
          <p:nvPr/>
        </p:nvSpPr>
        <p:spPr>
          <a:xfrm>
            <a:off x="16916401" y="40050718"/>
            <a:ext cx="14173199" cy="4754879"/>
          </a:xfrm>
          <a:prstGeom prst="rect">
            <a:avLst/>
          </a:prstGeom>
          <a:ln w="12700">
            <a:miter lim="400000"/>
          </a:ln>
          <a:extLst>
            <a:ext uri="{C572A759-6A51-4108-AA02-DFA0A04FC94B}">
              <ma14:wrappingTextBoxFlag xmlns:ma14="http://schemas.microsoft.com/office/mac/drawingml/2011/main" val="1"/>
            </a:ext>
          </a:extLst>
        </p:spPr>
        <p:txBody>
          <a:bodyPr lIns="91438" tIns="91438" rIns="91438" bIns="91438">
            <a:spAutoFit/>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[1] J. Redmon, S. Divvala, R. Girshick, and A. Farhadi, “You only look</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once: Unified, real-time object detection,” Proc. IEEE Conf. Comput.</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Vision Pattern Recognit. (CVPR), pp. 779–788, 2016.</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[2] A. Bochkovskiy, C.-Y. Wang, and H.-Y. M. Liao, “YOLOv4: Op-</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timal speed and accuracy of object detection,” arXiv preprint</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arXiv:2004.10934, 2020.</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[3] C.-Y. Wang, A. Bochkovskiy, and H.-Y. M. Liao, “YOLOv7: Trainable</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bag-of-freebies sets new state-of-the-art for real-time object detectors,”</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arXiv preprint arXiv:2207.02696, 2022.</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[4] G. Jocher, A. Chaurasia, and J. Qiu, “YOLOv5: By</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Ultralytics,” GitHub Repository, 2020. [Online]. Available:</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https://github.com/ultralytics/yolov5</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[5] Z. Chen, L. Cao, X. He, and L. Yang, “A survey of deep learning for</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crowd analysis,” ACM Comput. Surveys (CSUR), vol. 54, no. 8, pp.</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1–36, 2022.</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[6] N. Wojke, A. Bewley, and D. Paulus, “Simple online and realtime</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tracking with a deep association metric,” Proc. IEEE Int. Conf. Image</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r>
              <a:t>Process. (ICIP), pp. 3645–3649, 2017.</a:t>
            </a:r>
          </a:p>
        </p:txBody>
      </p:sp>
      <p:sp>
        <p:nvSpPr>
          <p:cNvPr id="47" name="TextBox 26"/>
          <p:cNvSpPr txBox="1"/>
          <p:nvPr/>
        </p:nvSpPr>
        <p:spPr>
          <a:xfrm>
            <a:off x="16916398" y="39024070"/>
            <a:ext cx="3572578" cy="850363"/>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b="1" sz="6000"/>
            </a:lvl1pPr>
          </a:lstStyle>
          <a:p>
            <a:pPr/>
            <a:r>
              <a:t>References</a:t>
            </a:r>
          </a:p>
        </p:txBody>
      </p:sp>
      <p:sp>
        <p:nvSpPr>
          <p:cNvPr id="48" name="Text Box 189"/>
          <p:cNvSpPr txBox="1"/>
          <p:nvPr/>
        </p:nvSpPr>
        <p:spPr>
          <a:xfrm>
            <a:off x="1828800" y="6891810"/>
            <a:ext cx="14173200" cy="7607301"/>
          </a:xfrm>
          <a:prstGeom prst="rect">
            <a:avLst/>
          </a:prstGeom>
          <a:solidFill>
            <a:srgbClr val="FFFFFF"/>
          </a:solidFill>
          <a:ln w="12700">
            <a:solidFill>
              <a:srgbClr val="376092"/>
            </a:solidFill>
          </a:ln>
          <a:extLst>
            <a:ext uri="{C572A759-6A51-4108-AA02-DFA0A04FC94B}">
              <ma14:wrappingTextBoxFlag xmlns:ma14="http://schemas.microsoft.com/office/mac/drawingml/2011/main" val="1"/>
            </a:ext>
          </a:extLst>
        </p:spPr>
        <p:txBody>
          <a:bodyPr lIns="596900" tIns="596900" rIns="596900" bIns="596900">
            <a:spAutoFit/>
          </a:bodyPr>
          <a:lstStyle/>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mn-lt"/>
                <a:ea typeface="+mn-ea"/>
                <a:cs typeface="+mn-cs"/>
                <a:sym typeface="Helvetica"/>
              </a:defRPr>
            </a:pPr>
            <a:r>
              <a:t>Public safety monitoring in densely populated envi-</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mn-lt"/>
                <a:ea typeface="+mn-ea"/>
                <a:cs typeface="+mn-cs"/>
                <a:sym typeface="Helvetica"/>
              </a:defRPr>
            </a:pPr>
            <a:r>
              <a:t>ronments such as transportation hubs, marketplaces, stadiums,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mn-lt"/>
                <a:ea typeface="+mn-ea"/>
                <a:cs typeface="+mn-cs"/>
                <a:sym typeface="Helvetica"/>
              </a:defRPr>
            </a:pPr>
            <a:r>
              <a:t>and large public gatherings remains a critical challenge due to</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mn-lt"/>
                <a:ea typeface="+mn-ea"/>
                <a:cs typeface="+mn-cs"/>
                <a:sym typeface="Helvetica"/>
              </a:defRPr>
            </a:pPr>
            <a:r>
              <a:t>increasing incidents of theft, violence, and unexpected crowd disturbances. </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mn-lt"/>
                <a:ea typeface="+mn-ea"/>
                <a:cs typeface="+mn-cs"/>
                <a:sym typeface="Helvetica"/>
              </a:defRPr>
            </a:pPr>
            <a:r>
              <a:t>Conventional video surveillance systems rely heavily</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mn-lt"/>
                <a:ea typeface="+mn-ea"/>
                <a:cs typeface="+mn-cs"/>
                <a:sym typeface="Helvetica"/>
              </a:defRPr>
            </a:pPr>
            <a:r>
              <a:t>on continuous human supervision, which is inefficient, error-</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mn-lt"/>
                <a:ea typeface="+mn-ea"/>
                <a:cs typeface="+mn-cs"/>
                <a:sym typeface="Helvetica"/>
              </a:defRPr>
            </a:pPr>
            <a:r>
              <a:t>prone, and unsuitable for real-time response in complex crowd</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mn-lt"/>
                <a:ea typeface="+mn-ea"/>
                <a:cs typeface="+mn-cs"/>
                <a:sym typeface="Helvetica"/>
              </a:defRPr>
            </a:pPr>
            <a:r>
              <a:t>scenarios. To overcome these limitations, this paper presents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mn-lt"/>
                <a:ea typeface="+mn-ea"/>
                <a:cs typeface="+mn-cs"/>
                <a:sym typeface="Helvetica"/>
              </a:defRPr>
            </a:pPr>
            <a:r>
              <a:t>SafeCrowd Vision, an intelligent real-time surveillance frame-</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mn-lt"/>
                <a:ea typeface="+mn-ea"/>
                <a:cs typeface="+mn-cs"/>
                <a:sym typeface="Helvetica"/>
              </a:defRPr>
            </a:pPr>
            <a:r>
              <a:t>work that integrates visual and audio intelligence for automated</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mn-lt"/>
                <a:ea typeface="+mn-ea"/>
                <a:cs typeface="+mn-cs"/>
                <a:sym typeface="Helvetica"/>
              </a:defRPr>
            </a:pPr>
            <a:r>
              <a:t>detection of suspicious activities in crowded spaces.</a:t>
            </a:r>
          </a:p>
        </p:txBody>
      </p:sp>
      <p:sp>
        <p:nvSpPr>
          <p:cNvPr id="49" name="Rectangle 31"/>
          <p:cNvSpPr/>
          <p:nvPr/>
        </p:nvSpPr>
        <p:spPr>
          <a:xfrm>
            <a:off x="1828800" y="6197866"/>
            <a:ext cx="14173200" cy="863064"/>
          </a:xfrm>
          <a:prstGeom prst="rect">
            <a:avLst/>
          </a:prstGeom>
          <a:solidFill>
            <a:srgbClr val="376092"/>
          </a:solidFill>
          <a:ln w="12700">
            <a:solidFill>
              <a:srgbClr val="3A5E8A"/>
            </a:solidFill>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6000">
                <a:solidFill>
                  <a:srgbClr val="EBF1DE"/>
                </a:solidFill>
              </a:defRPr>
            </a:lvl1pPr>
          </a:lstStyle>
          <a:p>
            <a:pPr/>
            <a:r>
              <a:t>Abstract</a:t>
            </a:r>
          </a:p>
        </p:txBody>
      </p:sp>
      <p:sp>
        <p:nvSpPr>
          <p:cNvPr id="50" name="Text Box 194"/>
          <p:cNvSpPr txBox="1"/>
          <p:nvPr/>
        </p:nvSpPr>
        <p:spPr>
          <a:xfrm>
            <a:off x="16938910" y="7494999"/>
            <a:ext cx="14173201" cy="8562714"/>
          </a:xfrm>
          <a:prstGeom prst="rect">
            <a:avLst/>
          </a:prstGeom>
          <a:solidFill>
            <a:srgbClr val="FFFFFF"/>
          </a:solidFill>
          <a:ln w="12700">
            <a:solidFill>
              <a:srgbClr val="376092"/>
            </a:solidFill>
          </a:ln>
          <a:extLst>
            <a:ext uri="{C572A759-6A51-4108-AA02-DFA0A04FC94B}">
              <ma14:wrappingTextBoxFlag xmlns:ma14="http://schemas.microsoft.com/office/mac/drawingml/2011/main" val="1"/>
            </a:ext>
          </a:extLst>
        </p:spPr>
        <p:txBody>
          <a:bodyPr lIns="182879" tIns="182879" rIns="182879" bIns="182879">
            <a:spAutoFit/>
          </a:bodyPr>
          <a:lstStyle/>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latin typeface="+mn-lt"/>
                <a:ea typeface="+mn-ea"/>
                <a:cs typeface="+mn-cs"/>
                <a:sym typeface="Helvetica"/>
              </a:defRPr>
            </a:pPr>
            <a:r>
              <a:t>SafeCrowd Vision was thoroughly tested through several ex-</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latin typeface="+mn-lt"/>
                <a:ea typeface="+mn-ea"/>
                <a:cs typeface="+mn-cs"/>
                <a:sym typeface="Helvetica"/>
              </a:defRPr>
            </a:pPr>
            <a:r>
              <a:t>periments to confirm how well it can detect theft, violence,and</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latin typeface="+mn-lt"/>
                <a:ea typeface="+mn-ea"/>
                <a:cs typeface="+mn-cs"/>
                <a:sym typeface="Helvetica"/>
              </a:defRPr>
            </a:pPr>
            <a:r>
              <a:t>unusual sounds in crowded areas.</a:t>
            </a:r>
            <a:r>
              <a:rPr>
                <a:latin typeface="Arial"/>
                <a:ea typeface="Arial"/>
                <a:cs typeface="Arial"/>
                <a:sym typeface="Arial"/>
              </a:rPr>
              <a:t>•</a:t>
            </a:r>
            <a:r>
              <a:t>Accurate real-time detection of suspicious activities.</a:t>
            </a:r>
          </a:p>
          <a:p>
            <a:pPr algn="just" defTabSz="457200">
              <a:lnSpc>
                <a:spcPts val="8200"/>
              </a:lnSpc>
              <a:defRPr sz="3100">
                <a:latin typeface="Arial"/>
                <a:ea typeface="Arial"/>
                <a:cs typeface="Arial"/>
                <a:sym typeface="Arial"/>
              </a:defRPr>
            </a:pPr>
            <a:r>
              <a:t>•</a:t>
            </a:r>
            <a:r>
              <a:rPr b="1">
                <a:latin typeface="Times Roman"/>
                <a:ea typeface="Times Roman"/>
                <a:cs typeface="Times Roman"/>
                <a:sym typeface="Times Roman"/>
              </a:rPr>
              <a:t>Effective spatio-temporal analysis using CNN + LSTM models.</a:t>
            </a:r>
            <a:endParaRPr>
              <a:latin typeface="Times Roman"/>
              <a:ea typeface="Times Roman"/>
              <a:cs typeface="Times Roman"/>
              <a:sym typeface="Times Roman"/>
            </a:endParaRPr>
          </a:p>
          <a:p>
            <a:pPr algn="just" defTabSz="457200">
              <a:lnSpc>
                <a:spcPts val="8200"/>
              </a:lnSpc>
              <a:defRPr sz="3100">
                <a:latin typeface="Arial"/>
                <a:ea typeface="Arial"/>
                <a:cs typeface="Arial"/>
                <a:sym typeface="Arial"/>
              </a:defRPr>
            </a:pPr>
            <a:r>
              <a:t>•</a:t>
            </a:r>
            <a:r>
              <a:rPr b="1">
                <a:latin typeface="Times Roman"/>
                <a:ea typeface="Times Roman"/>
                <a:cs typeface="Times Roman"/>
                <a:sym typeface="Times Roman"/>
              </a:rPr>
              <a:t>Reliable object tracking with YOLO + DeepSORT across video frames.</a:t>
            </a:r>
            <a:endParaRPr>
              <a:latin typeface="Times Roman"/>
              <a:ea typeface="Times Roman"/>
              <a:cs typeface="Times Roman"/>
              <a:sym typeface="Times Roman"/>
            </a:endParaRPr>
          </a:p>
          <a:p>
            <a:pPr algn="just" defTabSz="457200">
              <a:lnSpc>
                <a:spcPts val="8200"/>
              </a:lnSpc>
              <a:defRPr sz="3100">
                <a:latin typeface="Arial"/>
                <a:ea typeface="Arial"/>
                <a:cs typeface="Arial"/>
                <a:sym typeface="Arial"/>
              </a:defRPr>
            </a:pPr>
            <a:r>
              <a:t>•</a:t>
            </a:r>
            <a:r>
              <a:rPr b="1">
                <a:latin typeface="Times Roman"/>
                <a:ea typeface="Times Roman"/>
                <a:cs typeface="Times Roman"/>
                <a:sym typeface="Times Roman"/>
              </a:rPr>
              <a:t>Low false positives/negatives compared to traditional surveillance systems.</a:t>
            </a:r>
            <a:endParaRPr>
              <a:latin typeface="Times Roman"/>
              <a:ea typeface="Times Roman"/>
              <a:cs typeface="Times Roman"/>
              <a:sym typeface="Times Roman"/>
            </a:endParaRPr>
          </a:p>
          <a:p>
            <a:pPr algn="just" defTabSz="457200">
              <a:lnSpc>
                <a:spcPts val="8200"/>
              </a:lnSpc>
              <a:defRPr sz="3100">
                <a:latin typeface="Arial"/>
                <a:ea typeface="Arial"/>
                <a:cs typeface="Arial"/>
                <a:sym typeface="Arial"/>
              </a:defRPr>
            </a:pPr>
            <a:r>
              <a:t>•</a:t>
            </a:r>
            <a:r>
              <a:rPr b="1">
                <a:latin typeface="Times Roman"/>
                <a:ea typeface="Times Roman"/>
                <a:cs typeface="Times Roman"/>
                <a:sym typeface="Times Roman"/>
              </a:rPr>
              <a:t>Seamless integration with CCTV cameras, drones, or mobile surveillance units.</a:t>
            </a:r>
            <a:endParaRPr>
              <a:latin typeface="Times Roman"/>
              <a:ea typeface="Times Roman"/>
              <a:cs typeface="Times Roman"/>
              <a:sym typeface="Times Roman"/>
            </a:endParaRPr>
          </a:p>
          <a:p>
            <a:pPr algn="just" defTabSz="457200">
              <a:lnSpc>
                <a:spcPts val="8200"/>
              </a:lnSpc>
              <a:defRPr sz="3100">
                <a:latin typeface="Arial"/>
                <a:ea typeface="Arial"/>
                <a:cs typeface="Arial"/>
                <a:sym typeface="Arial"/>
              </a:defRPr>
            </a:pPr>
            <a:r>
              <a:t>•</a:t>
            </a:r>
            <a:r>
              <a:rPr b="1">
                <a:latin typeface="Times Roman"/>
                <a:ea typeface="Times Roman"/>
                <a:cs typeface="Times Roman"/>
                <a:sym typeface="Times Roman"/>
              </a:rPr>
              <a:t>Timely alerts/notifications sent to security personnel via dashboard or mobile devices.</a:t>
            </a:r>
          </a:p>
        </p:txBody>
      </p:sp>
      <p:sp>
        <p:nvSpPr>
          <p:cNvPr id="51" name="Rectangle 32"/>
          <p:cNvSpPr/>
          <p:nvPr/>
        </p:nvSpPr>
        <p:spPr>
          <a:xfrm>
            <a:off x="1828800" y="14808216"/>
            <a:ext cx="14173200" cy="863064"/>
          </a:xfrm>
          <a:prstGeom prst="rect">
            <a:avLst/>
          </a:prstGeom>
          <a:solidFill>
            <a:srgbClr val="376092"/>
          </a:solidFill>
          <a:ln w="12700">
            <a:solidFill>
              <a:srgbClr val="3A5E8A"/>
            </a:solidFill>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6000">
                <a:solidFill>
                  <a:srgbClr val="EBF1DE"/>
                </a:solidFill>
              </a:defRPr>
            </a:lvl1pPr>
          </a:lstStyle>
          <a:p>
            <a:pPr/>
            <a:r>
              <a:t>Introduction</a:t>
            </a:r>
          </a:p>
        </p:txBody>
      </p:sp>
      <p:sp>
        <p:nvSpPr>
          <p:cNvPr id="52" name="Text Box 192"/>
          <p:cNvSpPr txBox="1"/>
          <p:nvPr/>
        </p:nvSpPr>
        <p:spPr>
          <a:xfrm>
            <a:off x="1616404" y="30302824"/>
            <a:ext cx="14173202" cy="7960359"/>
          </a:xfrm>
          <a:prstGeom prst="rect">
            <a:avLst/>
          </a:prstGeom>
          <a:solidFill>
            <a:srgbClr val="FFFFFF"/>
          </a:solidFill>
          <a:ln w="12700">
            <a:solidFill>
              <a:srgbClr val="376092"/>
            </a:solidFill>
          </a:ln>
          <a:extLst>
            <a:ext uri="{C572A759-6A51-4108-AA02-DFA0A04FC94B}">
              <ma14:wrappingTextBoxFlag xmlns:ma14="http://schemas.microsoft.com/office/mac/drawingml/2011/main" val="1"/>
            </a:ext>
          </a:extLst>
        </p:spPr>
        <p:txBody>
          <a:bodyPr lIns="182879" tIns="182879" rIns="182879" bIns="182879">
            <a:spAutoFit/>
          </a:bodyPr>
          <a:lstStyle/>
          <a:p>
            <a:pPr>
              <a:defRPr b="1" sz="3700"/>
            </a:pPr>
            <a:r>
              <a:t>Methods</a:t>
            </a:r>
            <a:endParaRPr>
              <a:latin typeface="Arial"/>
              <a:ea typeface="Arial"/>
              <a:cs typeface="Arial"/>
              <a:sym typeface="Arial"/>
            </a:endParaR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700">
                <a:latin typeface="+mn-lt"/>
                <a:ea typeface="+mn-ea"/>
                <a:cs typeface="+mn-cs"/>
                <a:sym typeface="Helvetica"/>
              </a:defRPr>
            </a:pPr>
            <a:r>
              <a:t>SafeCrowd Vision is a system that uses real-time smart</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700">
                <a:latin typeface="+mn-lt"/>
                <a:ea typeface="+mn-ea"/>
                <a:cs typeface="+mn-cs"/>
                <a:sym typeface="Helvetica"/>
              </a:defRPr>
            </a:pPr>
            <a:r>
              <a:t>surveillance to watch over busy places like malls, airports,</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700">
                <a:latin typeface="+mn-lt"/>
                <a:ea typeface="+mn-ea"/>
                <a:cs typeface="+mn-cs"/>
                <a:sym typeface="Helvetica"/>
              </a:defRPr>
            </a:pPr>
            <a:r>
              <a:t>train stations, and public events. It combines computer vi-</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700">
                <a:latin typeface="+mn-lt"/>
                <a:ea typeface="+mn-ea"/>
                <a:cs typeface="+mn-cs"/>
                <a:sym typeface="Helvetica"/>
              </a:defRPr>
            </a:pPr>
            <a:r>
              <a:t>sion and sound analysis to spot unusual activities that might</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700">
                <a:latin typeface="+mn-lt"/>
                <a:ea typeface="+mn-ea"/>
                <a:cs typeface="+mn-cs"/>
                <a:sym typeface="Helvetica"/>
              </a:defRPr>
            </a:pPr>
            <a:r>
              <a:t>threaten safety.Materials</a:t>
            </a:r>
            <a:endParaRPr sz="2200">
              <a:latin typeface="Arial"/>
              <a:ea typeface="Arial"/>
              <a:cs typeface="Arial"/>
              <a:sym typeface="Arial"/>
            </a:endParaRPr>
          </a:p>
          <a:p>
            <a:pPr marL="320841" indent="-320841" algn="just">
              <a:buSzPct val="100000"/>
              <a:buChar char="•"/>
              <a:defRPr b="1" sz="3600"/>
            </a:pPr>
            <a:r>
              <a:t>Object Detection</a:t>
            </a:r>
          </a:p>
          <a:p>
            <a:pPr marL="320841" indent="-320841" algn="just">
              <a:buSzPct val="100000"/>
              <a:buChar char="•"/>
              <a:defRPr b="1" sz="3600"/>
            </a:pPr>
            <a:r>
              <a:t>Object Tracking and Association</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4900">
                <a:latin typeface="+mn-lt"/>
                <a:ea typeface="+mn-ea"/>
                <a:cs typeface="+mn-cs"/>
                <a:sym typeface="Helvetica"/>
              </a:defRPr>
            </a:pPr>
            <a:r>
              <a:t>•</a:t>
            </a:r>
            <a:r>
              <a:rPr sz="3300"/>
              <a:t>Abnormal Behavior Detection </a:t>
            </a:r>
            <a:endParaRPr sz="33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3400">
                <a:latin typeface="+mn-lt"/>
                <a:ea typeface="+mn-ea"/>
                <a:cs typeface="+mn-cs"/>
                <a:sym typeface="Helvetica"/>
              </a:defRPr>
            </a:pPr>
            <a:r>
              <a:t>Theft Detection</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3400">
                <a:latin typeface="+mn-lt"/>
                <a:ea typeface="+mn-ea"/>
                <a:cs typeface="+mn-cs"/>
                <a:sym typeface="Helvetica"/>
              </a:defRPr>
            </a:pPr>
            <a:r>
              <a:t>Voilation Detection</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4700">
                <a:latin typeface="+mn-lt"/>
                <a:ea typeface="+mn-ea"/>
                <a:cs typeface="+mn-cs"/>
                <a:sym typeface="Helvetica"/>
              </a:defRPr>
            </a:pPr>
            <a:r>
              <a:t>•</a:t>
            </a:r>
            <a:r>
              <a:rPr sz="3900"/>
              <a:t>Audio Anomaly Detection</a:t>
            </a:r>
            <a:endParaRPr sz="3900"/>
          </a:p>
        </p:txBody>
      </p:sp>
      <p:sp>
        <p:nvSpPr>
          <p:cNvPr id="53" name="Rectangle 33"/>
          <p:cNvSpPr/>
          <p:nvPr/>
        </p:nvSpPr>
        <p:spPr>
          <a:xfrm>
            <a:off x="1616404" y="29291815"/>
            <a:ext cx="14173202" cy="863064"/>
          </a:xfrm>
          <a:prstGeom prst="rect">
            <a:avLst/>
          </a:prstGeom>
          <a:solidFill>
            <a:srgbClr val="376092"/>
          </a:solidFill>
          <a:ln w="12700">
            <a:solidFill>
              <a:srgbClr val="3A5E8A"/>
            </a:solidFill>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6000">
                <a:solidFill>
                  <a:srgbClr val="EBF1DE"/>
                </a:solidFill>
              </a:defRPr>
            </a:lvl1pPr>
          </a:lstStyle>
          <a:p>
            <a:pPr/>
            <a:r>
              <a:t>Methods and Materials</a:t>
            </a:r>
          </a:p>
        </p:txBody>
      </p:sp>
      <p:sp>
        <p:nvSpPr>
          <p:cNvPr id="54" name="Text Box 191"/>
          <p:cNvSpPr txBox="1"/>
          <p:nvPr/>
        </p:nvSpPr>
        <p:spPr>
          <a:xfrm>
            <a:off x="16916400" y="23058358"/>
            <a:ext cx="14173200" cy="5436393"/>
          </a:xfrm>
          <a:prstGeom prst="rect">
            <a:avLst/>
          </a:prstGeom>
          <a:solidFill>
            <a:srgbClr val="FFFFFF"/>
          </a:solidFill>
          <a:ln w="12700">
            <a:solidFill>
              <a:srgbClr val="376092"/>
            </a:solidFill>
          </a:ln>
          <a:extLst>
            <a:ext uri="{C572A759-6A51-4108-AA02-DFA0A04FC94B}">
              <ma14:wrappingTextBoxFlag xmlns:ma14="http://schemas.microsoft.com/office/mac/drawingml/2011/main" val="1"/>
            </a:ext>
          </a:extLst>
        </p:spPr>
        <p:txBody>
          <a:bodyPr lIns="182879" tIns="182879" rIns="182879" bIns="182879">
            <a:spAutoFit/>
          </a:bodyPr>
          <a:lstStyle/>
          <a:p>
            <a:pPr algn="just">
              <a:lnSpc>
                <a:spcPct val="115000"/>
              </a:lnSpc>
              <a:spcBef>
                <a:spcPts val="800"/>
              </a:spcBef>
              <a:defRPr sz="3200"/>
            </a:pPr>
            <a:r>
              <a:t>The system effectively enhances pedestrian safety near busy crossings, especially at bus stops and school zones, by integrating </a:t>
            </a:r>
            <a:r>
              <a:rPr b="1"/>
              <a:t>high-resolution cameras and radar sensors</a:t>
            </a:r>
            <a:r>
              <a:t> for real-time situational awareness.</a:t>
            </a:r>
          </a:p>
          <a:p>
            <a:pPr algn="just">
              <a:lnSpc>
                <a:spcPct val="115000"/>
              </a:lnSpc>
              <a:spcBef>
                <a:spcPts val="800"/>
              </a:spcBef>
              <a:defRPr sz="3200"/>
            </a:pPr>
            <a:r>
              <a:t>Pedestrians often choose unsafe road crossings over </a:t>
            </a:r>
            <a:r>
              <a:rPr b="1"/>
              <a:t>Foot Over Bridges (FOBs)</a:t>
            </a:r>
            <a:r>
              <a:t> due to convenience, increasing collision risks. This system mitigates such risks through </a:t>
            </a:r>
            <a:r>
              <a:rPr b="1"/>
              <a:t>automated visual and audio alerts</a:t>
            </a:r>
            <a:r>
              <a:t>, improving crossing behavior.</a:t>
            </a:r>
          </a:p>
          <a:p>
            <a:pPr algn="just">
              <a:lnSpc>
                <a:spcPct val="115000"/>
              </a:lnSpc>
              <a:spcBef>
                <a:spcPts val="800"/>
              </a:spcBef>
              <a:defRPr sz="3200"/>
            </a:pPr>
            <a:r>
              <a:t>Its </a:t>
            </a:r>
            <a:r>
              <a:rPr b="1"/>
              <a:t>accurate vehicle detection</a:t>
            </a:r>
            <a:r>
              <a:t>, even in low visibility, ensures safer crossings. The system's </a:t>
            </a:r>
            <a:r>
              <a:rPr b="1"/>
              <a:t>child-friendly signals</a:t>
            </a:r>
            <a:r>
              <a:t> enhance safety for school children, reducing confusion and promoting compliance.</a:t>
            </a:r>
          </a:p>
        </p:txBody>
      </p:sp>
      <p:grpSp>
        <p:nvGrpSpPr>
          <p:cNvPr id="57" name="Rectangle 34"/>
          <p:cNvGrpSpPr/>
          <p:nvPr/>
        </p:nvGrpSpPr>
        <p:grpSpPr>
          <a:xfrm>
            <a:off x="16916400" y="22143958"/>
            <a:ext cx="14173200" cy="914402"/>
            <a:chOff x="0" y="0"/>
            <a:chExt cx="14173200" cy="914400"/>
          </a:xfrm>
        </p:grpSpPr>
        <p:sp>
          <p:nvSpPr>
            <p:cNvPr id="55" name="Rectangle"/>
            <p:cNvSpPr/>
            <p:nvPr/>
          </p:nvSpPr>
          <p:spPr>
            <a:xfrm>
              <a:off x="0" y="0"/>
              <a:ext cx="14173200" cy="914401"/>
            </a:xfrm>
            <a:prstGeom prst="rect">
              <a:avLst/>
            </a:prstGeom>
            <a:solidFill>
              <a:srgbClr val="376092"/>
            </a:solidFill>
            <a:ln w="12700" cap="flat">
              <a:solidFill>
                <a:srgbClr val="3A5E8A"/>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56" name="Discussion"/>
            <p:cNvSpPr txBox="1"/>
            <p:nvPr/>
          </p:nvSpPr>
          <p:spPr>
            <a:xfrm>
              <a:off x="52068" y="32017"/>
              <a:ext cx="14069064" cy="8503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6000">
                  <a:solidFill>
                    <a:srgbClr val="EBF1DE"/>
                  </a:solidFill>
                </a:defRPr>
              </a:lvl1pPr>
            </a:lstStyle>
            <a:p>
              <a:pPr/>
              <a:r>
                <a:t>Discussion</a:t>
              </a:r>
            </a:p>
          </p:txBody>
        </p:sp>
      </p:grpSp>
      <p:sp>
        <p:nvSpPr>
          <p:cNvPr id="58" name="Text Box 193"/>
          <p:cNvSpPr txBox="1"/>
          <p:nvPr/>
        </p:nvSpPr>
        <p:spPr>
          <a:xfrm>
            <a:off x="16995647" y="29653112"/>
            <a:ext cx="14173203" cy="7599679"/>
          </a:xfrm>
          <a:prstGeom prst="rect">
            <a:avLst/>
          </a:prstGeom>
          <a:solidFill>
            <a:srgbClr val="FFFFFF"/>
          </a:solidFill>
          <a:ln w="12700">
            <a:solidFill>
              <a:srgbClr val="376092"/>
            </a:solidFill>
          </a:ln>
          <a:extLst>
            <a:ext uri="{C572A759-6A51-4108-AA02-DFA0A04FC94B}">
              <ma14:wrappingTextBoxFlag xmlns:ma14="http://schemas.microsoft.com/office/mac/drawingml/2011/main" val="1"/>
            </a:ext>
          </a:extLst>
        </p:spPr>
        <p:txBody>
          <a:bodyPr lIns="182879" tIns="182879" rIns="182879" bIns="182879">
            <a:spAutoFit/>
          </a:bodyPr>
          <a:lstStyle/>
          <a:p>
            <a:pPr defTabSz="457200">
              <a:lnSpc>
                <a:spcPts val="7200"/>
              </a:lnSpc>
              <a:defRPr sz="2800">
                <a:latin typeface="Arial"/>
                <a:ea typeface="Arial"/>
                <a:cs typeface="Arial"/>
                <a:sym typeface="Arial"/>
              </a:defRPr>
            </a:pPr>
            <a:r>
              <a:t>•</a:t>
            </a:r>
            <a:r>
              <a:rPr b="1">
                <a:latin typeface="Times Roman"/>
                <a:ea typeface="Times Roman"/>
                <a:cs typeface="Times Roman"/>
                <a:sym typeface="Times Roman"/>
              </a:rPr>
              <a:t>Ensuring the safety and security of crowded public environments remains one of the most pressing challenges of modern urban societies.</a:t>
            </a:r>
            <a:endParaRPr sz="1200">
              <a:latin typeface="Times Roman"/>
              <a:ea typeface="Times Roman"/>
              <a:cs typeface="Times Roman"/>
              <a:sym typeface="Times Roman"/>
            </a:endParaRPr>
          </a:p>
          <a:p>
            <a:pPr defTabSz="457200">
              <a:lnSpc>
                <a:spcPts val="7200"/>
              </a:lnSpc>
              <a:defRPr sz="2800">
                <a:latin typeface="Arial"/>
                <a:ea typeface="Arial"/>
                <a:cs typeface="Arial"/>
                <a:sym typeface="Arial"/>
              </a:defRPr>
            </a:pPr>
            <a:r>
              <a:t>•</a:t>
            </a:r>
            <a:r>
              <a:rPr b="1">
                <a:latin typeface="Times Roman"/>
                <a:ea typeface="Times Roman"/>
                <a:cs typeface="Times Roman"/>
                <a:sym typeface="Times Roman"/>
              </a:rPr>
              <a:t> Traditional surveillance systems, which depend heavily on human vigilance, often fall short in managing large-scale events where abnormal activities such as theft, violence, or disorderly conduct may arise suddenly.</a:t>
            </a:r>
            <a:endParaRPr sz="1200">
              <a:latin typeface="Times Roman"/>
              <a:ea typeface="Times Roman"/>
              <a:cs typeface="Times Roman"/>
              <a:sym typeface="Times Roman"/>
            </a:endParaRPr>
          </a:p>
          <a:p>
            <a:pPr defTabSz="457200">
              <a:lnSpc>
                <a:spcPts val="7200"/>
              </a:lnSpc>
              <a:defRPr sz="2800">
                <a:latin typeface="Arial"/>
                <a:ea typeface="Arial"/>
                <a:cs typeface="Arial"/>
                <a:sym typeface="Arial"/>
              </a:defRPr>
            </a:pPr>
            <a:r>
              <a:t>•</a:t>
            </a:r>
            <a:r>
              <a:rPr b="1">
                <a:latin typeface="Times Roman"/>
                <a:ea typeface="Times Roman"/>
                <a:cs typeface="Times Roman"/>
                <a:sym typeface="Times Roman"/>
              </a:rPr>
              <a:t>This research introduced SafeCrowd Vision, an intelligent AI-based framework designed to overcome these limitations by integrating state-of-the-art deep learning techniques for real-time multimodal anomaly detection.</a:t>
            </a:r>
          </a:p>
        </p:txBody>
      </p:sp>
      <p:grpSp>
        <p:nvGrpSpPr>
          <p:cNvPr id="61" name="Rectangle 35"/>
          <p:cNvGrpSpPr/>
          <p:nvPr/>
        </p:nvGrpSpPr>
        <p:grpSpPr>
          <a:xfrm>
            <a:off x="16995647" y="28797720"/>
            <a:ext cx="14173203" cy="914402"/>
            <a:chOff x="0" y="0"/>
            <a:chExt cx="14173201" cy="914400"/>
          </a:xfrm>
        </p:grpSpPr>
        <p:sp>
          <p:nvSpPr>
            <p:cNvPr id="59" name="Rectangle"/>
            <p:cNvSpPr/>
            <p:nvPr/>
          </p:nvSpPr>
          <p:spPr>
            <a:xfrm>
              <a:off x="0" y="0"/>
              <a:ext cx="14173202" cy="914401"/>
            </a:xfrm>
            <a:prstGeom prst="rect">
              <a:avLst/>
            </a:prstGeom>
            <a:solidFill>
              <a:srgbClr val="376092"/>
            </a:solidFill>
            <a:ln w="12700" cap="flat">
              <a:solidFill>
                <a:srgbClr val="3A5E8A"/>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60" name="Conclusions"/>
            <p:cNvSpPr txBox="1"/>
            <p:nvPr/>
          </p:nvSpPr>
          <p:spPr>
            <a:xfrm>
              <a:off x="52069" y="32017"/>
              <a:ext cx="14069064" cy="8503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6000">
                  <a:solidFill>
                    <a:srgbClr val="EBF1DE"/>
                  </a:solidFill>
                </a:defRPr>
              </a:lvl1pPr>
            </a:lstStyle>
            <a:p>
              <a:pPr/>
              <a:r>
                <a:t>Conclusions</a:t>
              </a:r>
            </a:p>
          </p:txBody>
        </p:sp>
      </p:grpSp>
      <p:sp>
        <p:nvSpPr>
          <p:cNvPr id="62" name="Text Box 190"/>
          <p:cNvSpPr txBox="1"/>
          <p:nvPr/>
        </p:nvSpPr>
        <p:spPr>
          <a:xfrm>
            <a:off x="1794713" y="15977378"/>
            <a:ext cx="14173202" cy="9344659"/>
          </a:xfrm>
          <a:prstGeom prst="rect">
            <a:avLst/>
          </a:prstGeom>
          <a:solidFill>
            <a:srgbClr val="FFFFFF"/>
          </a:solidFill>
          <a:ln w="12700">
            <a:solidFill>
              <a:srgbClr val="376092"/>
            </a:solidFill>
          </a:ln>
          <a:extLst>
            <a:ext uri="{C572A759-6A51-4108-AA02-DFA0A04FC94B}">
              <ma14:wrappingTextBoxFlag xmlns:ma14="http://schemas.microsoft.com/office/mac/drawingml/2011/main" val="1"/>
            </a:ext>
          </a:extLst>
        </p:spPr>
        <p:txBody>
          <a:bodyPr lIns="182879" tIns="182879" rIns="182879" bIns="182879">
            <a:spAutoFit/>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latin typeface="+mn-lt"/>
                <a:ea typeface="+mn-ea"/>
                <a:cs typeface="+mn-cs"/>
                <a:sym typeface="Helvetica"/>
              </a:defRPr>
            </a:pPr>
            <a:r>
              <a:t>Rapid urbanization and increasing population density have</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latin typeface="+mn-lt"/>
                <a:ea typeface="+mn-ea"/>
                <a:cs typeface="+mn-cs"/>
                <a:sym typeface="Helvetica"/>
              </a:defRPr>
            </a:pPr>
            <a:r>
              <a:t>significantly raised safety concerns in public spaces such</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latin typeface="+mn-lt"/>
                <a:ea typeface="+mn-ea"/>
                <a:cs typeface="+mn-cs"/>
                <a:sym typeface="Helvetica"/>
              </a:defRPr>
            </a:pPr>
            <a:r>
              <a:t>as transportation hubs, commercial areas, and large social</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latin typeface="+mn-lt"/>
                <a:ea typeface="+mn-ea"/>
                <a:cs typeface="+mn-cs"/>
                <a:sym typeface="Helvetica"/>
              </a:defRPr>
            </a:pPr>
            <a:r>
              <a:t>gatherings. These environments often experience high crowd</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latin typeface="+mn-lt"/>
                <a:ea typeface="+mn-ea"/>
                <a:cs typeface="+mn-cs"/>
                <a:sym typeface="Helvetica"/>
              </a:defRPr>
            </a:pPr>
            <a:r>
              <a:t>movement, making them vulnerable to incidents such as theft,</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latin typeface="+mn-lt"/>
                <a:ea typeface="+mn-ea"/>
                <a:cs typeface="+mn-cs"/>
                <a:sym typeface="Helvetica"/>
              </a:defRPr>
            </a:pPr>
            <a:r>
              <a:t>violent behavior, and sudden disorder. </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latin typeface="+mn-lt"/>
                <a:ea typeface="+mn-ea"/>
                <a:cs typeface="+mn-cs"/>
                <a:sym typeface="Helvetica"/>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000">
                <a:latin typeface="+mn-lt"/>
                <a:ea typeface="+mn-ea"/>
                <a:cs typeface="+mn-cs"/>
                <a:sym typeface="Helvetica"/>
              </a:defRPr>
            </a:pPr>
            <a:r>
              <a:t>To overcome these limitations, this paper proposes Safe-</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000">
                <a:latin typeface="+mn-lt"/>
                <a:ea typeface="+mn-ea"/>
                <a:cs typeface="+mn-cs"/>
                <a:sym typeface="Helvetica"/>
              </a:defRPr>
            </a:pPr>
            <a:r>
              <a:t>Crowd Vision, a real-time multimodal surveillance system that combines visual intelligence and audio analysis to identifysuspicious activities in crowded environments. The framework utilizes CNN-based feature extraction for spatial understanding and LSTM-based temporal modeling to recognize behavior patterns such as theft and violent interactions.</a:t>
            </a:r>
          </a:p>
        </p:txBody>
      </p:sp>
      <p:grpSp>
        <p:nvGrpSpPr>
          <p:cNvPr id="65" name="Rectangle 44"/>
          <p:cNvGrpSpPr/>
          <p:nvPr/>
        </p:nvGrpSpPr>
        <p:grpSpPr>
          <a:xfrm>
            <a:off x="16995648" y="6172200"/>
            <a:ext cx="14173202" cy="914400"/>
            <a:chOff x="0" y="0"/>
            <a:chExt cx="14173201" cy="914400"/>
          </a:xfrm>
        </p:grpSpPr>
        <p:sp>
          <p:nvSpPr>
            <p:cNvPr id="63" name="Rectangle"/>
            <p:cNvSpPr/>
            <p:nvPr/>
          </p:nvSpPr>
          <p:spPr>
            <a:xfrm>
              <a:off x="0" y="0"/>
              <a:ext cx="14173202" cy="914400"/>
            </a:xfrm>
            <a:prstGeom prst="rect">
              <a:avLst/>
            </a:prstGeom>
            <a:solidFill>
              <a:srgbClr val="376092"/>
            </a:solidFill>
            <a:ln w="12700" cap="flat">
              <a:solidFill>
                <a:srgbClr val="3A5E8A"/>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64" name="Results"/>
            <p:cNvSpPr txBox="1"/>
            <p:nvPr/>
          </p:nvSpPr>
          <p:spPr>
            <a:xfrm>
              <a:off x="52069" y="32016"/>
              <a:ext cx="14069064" cy="8503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6000">
                  <a:solidFill>
                    <a:srgbClr val="EBF1DE"/>
                  </a:solidFill>
                </a:defRPr>
              </a:lvl1pPr>
            </a:lstStyle>
            <a:p>
              <a:pPr/>
              <a:r>
                <a:t>Results</a:t>
              </a:r>
            </a:p>
          </p:txBody>
        </p:sp>
      </p:grpSp>
      <p:grpSp>
        <p:nvGrpSpPr>
          <p:cNvPr id="70" name="Rectangle 265"/>
          <p:cNvGrpSpPr/>
          <p:nvPr/>
        </p:nvGrpSpPr>
        <p:grpSpPr>
          <a:xfrm>
            <a:off x="914397" y="1554476"/>
            <a:ext cx="2425824" cy="2194567"/>
            <a:chOff x="-2" y="-2"/>
            <a:chExt cx="2425822" cy="2194566"/>
          </a:xfrm>
        </p:grpSpPr>
        <p:grpSp>
          <p:nvGrpSpPr>
            <p:cNvPr id="68" name="Group"/>
            <p:cNvGrpSpPr/>
            <p:nvPr/>
          </p:nvGrpSpPr>
          <p:grpSpPr>
            <a:xfrm>
              <a:off x="-3" y="-3"/>
              <a:ext cx="2425824" cy="2194567"/>
              <a:chOff x="-1" y="0"/>
              <a:chExt cx="2425822" cy="2194566"/>
            </a:xfrm>
          </p:grpSpPr>
          <p:sp>
            <p:nvSpPr>
              <p:cNvPr id="66" name="Rectangle"/>
              <p:cNvSpPr/>
              <p:nvPr/>
            </p:nvSpPr>
            <p:spPr>
              <a:xfrm>
                <a:off x="-2" y="-1"/>
                <a:ext cx="2425824" cy="2194567"/>
              </a:xfrm>
              <a:prstGeom prst="rect">
                <a:avLst/>
              </a:prstGeom>
              <a:blipFill rotWithShape="1">
                <a:blip r:embed="rId4"/>
                <a:srcRect l="0" t="0" r="0" b="0"/>
                <a:stretch>
                  <a:fillRect/>
                </a:stretch>
              </a:blipFill>
              <a:ln w="12700" cap="flat">
                <a:noFill/>
                <a:miter lim="400000"/>
              </a:ln>
              <a:effectLst/>
            </p:spPr>
            <p:txBody>
              <a:bodyPr wrap="square" lIns="45718" tIns="45718" rIns="45718" bIns="45718" numCol="1" anchor="ctr">
                <a:noAutofit/>
              </a:bodyPr>
              <a:lstStyle/>
              <a:p>
                <a:pPr algn="ctr" defTabSz="4022725"/>
              </a:p>
            </p:txBody>
          </p:sp>
          <p:sp>
            <p:nvSpPr>
              <p:cNvPr id="67" name="Rectangle"/>
              <p:cNvSpPr/>
              <p:nvPr/>
            </p:nvSpPr>
            <p:spPr>
              <a:xfrm>
                <a:off x="-2" y="-1"/>
                <a:ext cx="2425824" cy="2194567"/>
              </a:xfrm>
              <a:prstGeom prst="rect">
                <a:avLst/>
              </a:prstGeom>
              <a:noFill/>
              <a:ln w="9525" cap="flat">
                <a:solidFill>
                  <a:srgbClr val="000000"/>
                </a:solidFill>
                <a:prstDash val="solid"/>
                <a:miter lim="800000"/>
              </a:ln>
              <a:effectLst/>
            </p:spPr>
            <p:txBody>
              <a:bodyPr wrap="square" lIns="45718" tIns="45718" rIns="45718" bIns="45718" numCol="1" anchor="ctr">
                <a:noAutofit/>
              </a:bodyPr>
              <a:lstStyle/>
              <a:p>
                <a:pPr algn="ctr" defTabSz="4022725"/>
              </a:p>
            </p:txBody>
          </p:sp>
        </p:grpSp>
        <p:sp>
          <p:nvSpPr>
            <p:cNvPr id="69" name="REPLACE THIS BOX WITH YOUR ORGANIZATION’S…"/>
            <p:cNvSpPr txBox="1"/>
            <p:nvPr/>
          </p:nvSpPr>
          <p:spPr>
            <a:xfrm>
              <a:off x="46669" y="321402"/>
              <a:ext cx="2332481" cy="15517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1905" tIns="41905" rIns="41905" bIns="41905" numCol="1" anchor="ctr">
              <a:spAutoFit/>
            </a:bodyPr>
            <a:lstStyle/>
            <a:p>
              <a:pPr algn="ctr" defTabSz="4022725">
                <a:defRPr b="1" sz="2000"/>
              </a:pPr>
              <a:r>
                <a:t>REPLACE THIS BOX WITH YOUR ORGANIZATION’S</a:t>
              </a:r>
            </a:p>
            <a:p>
              <a:pPr algn="ctr" defTabSz="4022725">
                <a:defRPr b="1" sz="2000"/>
              </a:pPr>
              <a:r>
                <a:t>HIGH RESOLUTION LOGO</a:t>
              </a:r>
            </a:p>
          </p:txBody>
        </p:sp>
      </p:grpSp>
      <p:pic>
        <p:nvPicPr>
          <p:cNvPr id="71" name="Screenshot 2026-01-23 at 18.17.54.png" descr="Screenshot 2026-01-23 at 18.17.54.png"/>
          <p:cNvPicPr>
            <a:picLocks noChangeAspect="1"/>
          </p:cNvPicPr>
          <p:nvPr/>
        </p:nvPicPr>
        <p:blipFill>
          <a:blip r:embed="rId5">
            <a:extLst/>
          </a:blip>
          <a:srcRect l="7999" t="0" r="7998" b="0"/>
          <a:stretch>
            <a:fillRect/>
          </a:stretch>
        </p:blipFill>
        <p:spPr>
          <a:xfrm>
            <a:off x="17395053" y="16630891"/>
            <a:ext cx="13188055" cy="5286743"/>
          </a:xfrm>
          <a:prstGeom prst="rect">
            <a:avLst/>
          </a:prstGeom>
          <a:ln w="12700">
            <a:miter lim="400000"/>
          </a:ln>
        </p:spPr>
      </p:pic>
      <p:sp>
        <p:nvSpPr>
          <p:cNvPr id="72" name="Text Box 180"/>
          <p:cNvSpPr txBox="1"/>
          <p:nvPr/>
        </p:nvSpPr>
        <p:spPr>
          <a:xfrm>
            <a:off x="22839687" y="16012128"/>
            <a:ext cx="1531400" cy="392468"/>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lgn="ctr" defTabSz="4389437">
              <a:defRPr b="1" sz="2400"/>
            </a:pPr>
            <a:r>
              <a:t>Fig 2.</a:t>
            </a:r>
            <a:r>
              <a:rPr b="0"/>
              <a:t>Result</a:t>
            </a:r>
          </a:p>
        </p:txBody>
      </p:sp>
      <p:pic>
        <p:nvPicPr>
          <p:cNvPr id="73" name="Picture 15" descr="Picture 15"/>
          <p:cNvPicPr>
            <a:picLocks noChangeAspect="1"/>
          </p:cNvPicPr>
          <p:nvPr/>
        </p:nvPicPr>
        <p:blipFill>
          <a:blip r:embed="rId6">
            <a:extLst/>
          </a:blip>
          <a:stretch>
            <a:fillRect/>
          </a:stretch>
        </p:blipFill>
        <p:spPr>
          <a:xfrm>
            <a:off x="273131" y="940479"/>
            <a:ext cx="3848476" cy="3402921"/>
          </a:xfrm>
          <a:prstGeom prst="rect">
            <a:avLst/>
          </a:prstGeom>
          <a:ln w="12700">
            <a:miter lim="400000"/>
          </a:ln>
        </p:spPr>
      </p:pic>
      <p:pic>
        <p:nvPicPr>
          <p:cNvPr id="74" name="Screenshot 2026-01-23 at 18.25.16.png" descr="Screenshot 2026-01-23 at 18.25.16.png"/>
          <p:cNvPicPr>
            <a:picLocks noChangeAspect="1"/>
          </p:cNvPicPr>
          <p:nvPr/>
        </p:nvPicPr>
        <p:blipFill>
          <a:blip r:embed="rId7">
            <a:extLst/>
          </a:blip>
          <a:stretch>
            <a:fillRect/>
          </a:stretch>
        </p:blipFill>
        <p:spPr>
          <a:xfrm>
            <a:off x="2054959" y="26136097"/>
            <a:ext cx="12633946" cy="3140644"/>
          </a:xfrm>
          <a:prstGeom prst="rect">
            <a:avLst/>
          </a:prstGeom>
          <a:ln w="12700">
            <a:miter lim="400000"/>
          </a:ln>
        </p:spPr>
      </p:pic>
      <p:sp>
        <p:nvSpPr>
          <p:cNvPr id="75" name="Table 1.1 Performance Metrics of Suspicious Activity Detection"/>
          <p:cNvSpPr txBox="1"/>
          <p:nvPr/>
        </p:nvSpPr>
        <p:spPr>
          <a:xfrm>
            <a:off x="2053995" y="25436380"/>
            <a:ext cx="12661736" cy="591724"/>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3900"/>
            </a:lvl1pPr>
          </a:lstStyle>
          <a:p>
            <a:pPr/>
            <a:r>
              <a:t>Table 1.1 Performance Metrics of Suspicious Activity Detection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389120"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389120"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389120"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389120"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